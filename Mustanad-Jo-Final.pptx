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60" r:id="rId5"/>
    <p:sldId id="265" r:id="rId6"/>
    <p:sldId id="259" r:id="rId7"/>
    <p:sldId id="269" r:id="rId8"/>
    <p:sldId id="262" r:id="rId9"/>
    <p:sldId id="263" r:id="rId10"/>
    <p:sldId id="264" r:id="rId11"/>
    <p:sldId id="271" r:id="rId12"/>
    <p:sldId id="272" r:id="rId13"/>
    <p:sldId id="270"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9" d="100"/>
          <a:sy n="79" d="100"/>
        </p:scale>
        <p:origin x="74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003040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نقدم Mustanad Jo، مساعدًا عربيًا لأصحاب المشاريع. بدل ترك المستخدم أمام سؤال عام: من أين أبدأ؟ نوجهه إلى وصف هدفه، ثم نوضح ما ينقص ونبني خطوات يمكن متابعتها. العرض يستند إلى معايير النقاط 5 إلى 8 فقط، مع إبقاء فكرة مشروعنا كما هي. لا ندعي اعتمادًا حكوميًا أو تنفيذ معاملات. يمكن إضافة أسماء الفريق الحقيقية للغلاف قبل التسليم.</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هذا وصف المشكلة التي يستهدفها المنتج، وليس نتيجة بحث ميداني ندعي إنجازه. قيمة النسخة الحالية هي جمع التخطيط والتوضيح والمصادر والمتابعة في تدفق واحد. نثبت وجود التدفق بالديمو والاختبارات؛ لا نضع نسب توفير وقت أو أرقام مستخدمين غير مقاسة.</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قصة المستخدم الأساسية: بصفتي صاحب مشروع أريد أن أفهم الخطوة التالية وأن أعود إلى تقدمي. معيار قبولها: وصف واضح ينتج خطة، وقائمة محفوظة تستعاد بعد تحديث الصفحة. قصة المدير: أريد متابعة المشاكل والتحكم بالحسابات؛ معيار القبول فحص صلاحية الخادم وإبطال جلسات الحساب المحظور. المتطلبات والأولويات والافتراضات كاملة في competition-criteria.md.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نستخدم MoSCoW لشرح قيمة الوظائف، لا لإعادة اختراع تاريخ تطوير. الموقع يحتوي خططًا لعدة مجالات، لكن الإجراءات التفصيلية التجريبية محدودة بمحل ملابس في عمّان كمؤسسة فردية. إجراءات production فارغة حتى المراجعة البشرية. استعادة كلمة المرور تعمل برابط محلي في التطوير؛ البريد الإنتاجي غير مربوط.</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اللقطات من المشروع نفسه. فُحصت صفحات الدخول والتسجيل على ستة مقاسات في المظهرين، بما فيها 320×568. أُرسل نموذج التسجيل فعليًا بحساب مؤقت وحُذف بعد التحقق. ركزنا أيضًا على تمييز السؤال عن الهدف، والتركيز المرئي وقائمة الهاتف. هذه مراجعة متصفح، وليست شهادة WCAG أو دراسة بشرية تثبت أن الجميع نجح في المهام.</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سنستخدم محل الملابس في عمّان كمثال الرحلة التفصيلية التجريبية، وليس كنطاق كل خطط الأعمال. اختيار مؤسسة فردية وإيجار يحدد الفرع. عند التبديل إلى ملكية تتغير وثيقة الموقع وتبقى علامات المستندات المشتركة فقط. نسبة التجهيز لا تعني موافقة حكومية. الصورة لقطة من مراجعة متصفح المشروع.</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ديمو مختصر نحو 55 ثانية: افتح الموقع بحساب demo مُجهز. أدخل مشروع الملابس واختر مؤسسة فردية ومستأجرًا، ثم أظهر الرحلة والمصدر وحالة المراجعة. علّم وثيقة وحدّث الصفحة لإثبات الحفظ، وافتح السجل. لا تنتظر استدعاء AI باردًا خلال هذا الوقت، ولا تعرض أسرارًا أو بيانات حساب حقيقي. إن تعذر التشغيل اعرض لقطة بصراحة.</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اختيار تطبيق واحد يقلل عبء التشغيل على الفريق واللجنة. الفصل داخلي وليس ادعاء وجود microservices. الواجهة لا تحتوي قواعد الإجراء، والمتصفح لا يتصل بالنموذج مباشرة. مخطط البنية التفصيلي وتصميم API موجودان في system-design.md. API يراجع الجلسة والمدخل، ثم يفوض لوحدة المجال ويحفظ النتيجة.</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الفهرس الفريد للمستخدم ومفتاح الطلب مع upsert يمنع إضافة سجل جديد لكل مرحلة من نفس التدفق. طلب جديد من البداية يأخذ UUID جديدًا. MongoDB لا يفرض علاقات foreign keys؛ التطبيق يتحقق من الملكية. بيانات صاحب المشروع وكلمات مروره ليست في التسليم. لكل جهاز قاعدة يضبطها. حذف الحساب متعدد المجموعات ليس transaction؛ وثقنا حد الفشل الجزئي.</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كلمات المرور مشتقة بـscrypt وملح عشوائي. cookie من نوع HttpOnly وSameSite؛ Secure في production. نتحقق من سجل الجلسة ونسخة الحساب وانتهاء الصلاحية. الحساب الرئيسي وآخر مدير محميان بقيود. هناك محدد معدل محلي. لا ندعي تدقيق اختراق أو أمانًا مطلقًا، ولا أن حجب بعض الأرقام ينقح جميع البيانات الشخصية.</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قوة Mustanad Jo في القيمة العملية: نحول فكرة المشروع إلى خطة يمكن فهمها ومتابعتها. جمعنا التجربة العربية والإرشاد والحفظ والدعم، وربطنا الإجابات بمصادر يمكن الرجوع إليها. تشغيل النموذج محليًا عبر Ollama لا يحتاج مفتاح API مدفوعًا في النسخة الحالية. الحسابات والسجل والإدارة أساس يساعدنا على النمو؛ هذا وصف للبنية الموجودة وليس ادعاءً أننا اختبرنا تشغيلًا واسعًا. المحتوى الرسمي الحالي يظل بحاجة إلى مراجعة بشرية.</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بدأنا برحلة محددة حتى نقدّم تجربة واضحة وقابلة للعرض والاختبار. هذا الأساس يتيح لنا التوسّع تدريجيًا بإضافة قطاعات جديدة وأدوات للميزانية والمتابعة والتعاون. كل مرحلة تطوير تستهدف زيادة قدرة المستخدم على تحويل فكرته إلى مشروع فعلي.</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نوفر ملفات قابلة للتنزيل، ولا نعتمد على جهاز الفريق. README يشرح الإعداد وحساب العرض والمدير والبيئة والفحوص وحل المشاكل. لا يُسلّم env الحقيقي أو بيانات المستخدمين. GitHub وإرسال الرابط خطوات الفريق الخارجية ولم ندع تنفيذها. نختم بالقيمة الحالية: بداية أوضح وخطوات قابلة للمتابعة بمصادر وحدود معلنة، ثم نستقبل أسئلة اللجنة.</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10/10/2026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10/10/2026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926"/>
        </a:solidFill>
        <a:effectLst/>
      </p:bgPr>
    </p:bg>
    <p:spTree>
      <p:nvGrpSpPr>
        <p:cNvPr id="1" name=""/>
        <p:cNvGrpSpPr/>
        <p:nvPr/>
      </p:nvGrpSpPr>
      <p:grpSpPr>
        <a:xfrm>
          <a:off x="0" y="0"/>
          <a:ext cx="0" cy="0"/>
          <a:chOff x="0" y="0"/>
          <a:chExt cx="0" cy="0"/>
        </a:xfrm>
      </p:grpSpPr>
      <p:sp>
        <p:nvSpPr>
          <p:cNvPr id="2" name="Rectangle 1"/>
          <p:cNvSpPr/>
          <p:nvPr/>
        </p:nvSpPr>
        <p:spPr>
          <a:xfrm>
            <a:off x="11539728" y="484632"/>
            <a:ext cx="54864" cy="1417320"/>
          </a:xfrm>
          <a:prstGeom prst="rect">
            <a:avLst/>
          </a:prstGeom>
          <a:solidFill>
            <a:srgbClr val="66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57200"/>
            <a:ext cx="10881360" cy="365760"/>
          </a:xfrm>
          <a:prstGeom prst="rect">
            <a:avLst/>
          </a:prstGeom>
          <a:noFill/>
        </p:spPr>
        <p:txBody>
          <a:bodyPr wrap="square" lIns="36576" tIns="0" rIns="36576" bIns="0">
            <a:spAutoFit/>
          </a:bodyPr>
          <a:lstStyle/>
          <a:p>
            <a:pPr algn="r" rtl="1">
              <a:spcAft>
                <a:spcPts val="600"/>
              </a:spcAft>
            </a:pPr>
            <a:r>
              <a:rPr lang="ar-JO" sz="1500" b="0">
                <a:solidFill>
                  <a:srgbClr val="66D7C4"/>
                </a:solidFill>
                <a:latin typeface="Tahoma"/>
                <a:ea typeface="Tahoma"/>
                <a:cs typeface="Tahoma"/>
              </a:rPr>
              <a:t>فكرتنا · MVP عربي</a:t>
            </a:r>
          </a:p>
        </p:txBody>
      </p:sp>
      <p:sp>
        <p:nvSpPr>
          <p:cNvPr id="4" name="TextBox 3"/>
          <p:cNvSpPr txBox="1"/>
          <p:nvPr/>
        </p:nvSpPr>
        <p:spPr>
          <a:xfrm>
            <a:off x="548640" y="932688"/>
            <a:ext cx="10881360" cy="640080"/>
          </a:xfrm>
          <a:prstGeom prst="rect">
            <a:avLst/>
          </a:prstGeom>
          <a:noFill/>
        </p:spPr>
        <p:txBody>
          <a:bodyPr wrap="square" lIns="36576" tIns="0" rIns="36576" bIns="0">
            <a:spAutoFit/>
          </a:bodyPr>
          <a:lstStyle/>
          <a:p>
            <a:pPr algn="r" rtl="1">
              <a:spcAft>
                <a:spcPts val="600"/>
              </a:spcAft>
            </a:pPr>
            <a:r>
              <a:rPr lang="ar-JO" sz="3400" b="1">
                <a:solidFill>
                  <a:srgbClr val="F4F8FA"/>
                </a:solidFill>
                <a:latin typeface="Tahoma"/>
                <a:ea typeface="Tahoma"/>
                <a:cs typeface="Tahoma"/>
              </a:rPr>
              <a:t>Mustanad Jo</a:t>
            </a:r>
          </a:p>
        </p:txBody>
      </p:sp>
      <p:sp>
        <p:nvSpPr>
          <p:cNvPr id="5" name="TextBox 4"/>
          <p:cNvSpPr txBox="1"/>
          <p:nvPr/>
        </p:nvSpPr>
        <p:spPr>
          <a:xfrm>
            <a:off x="548640" y="1700784"/>
            <a:ext cx="10972800" cy="777240"/>
          </a:xfrm>
          <a:prstGeom prst="rect">
            <a:avLst/>
          </a:prstGeom>
          <a:noFill/>
        </p:spPr>
        <p:txBody>
          <a:bodyPr wrap="square" lIns="36576" tIns="0" rIns="36576" bIns="0">
            <a:spAutoFit/>
          </a:bodyPr>
          <a:lstStyle/>
          <a:p>
            <a:pPr algn="r" rtl="1">
              <a:spcAft>
                <a:spcPts val="600"/>
              </a:spcAft>
            </a:pPr>
            <a:r>
              <a:rPr lang="ar-JO" sz="2000" b="0">
                <a:solidFill>
                  <a:srgbClr val="B9CCD8"/>
                </a:solidFill>
                <a:latin typeface="Tahoma"/>
                <a:ea typeface="Tahoma"/>
                <a:cs typeface="Tahoma"/>
              </a:rPr>
              <a:t>مساعد لصاحب المشروع: يفهم الهدف، ينظم الطريق، ويحفظ المتابعة.</a:t>
            </a:r>
          </a:p>
        </p:txBody>
      </p:sp>
      <p:sp>
        <p:nvSpPr>
          <p:cNvPr id="6" name="Rounded Rectangle 5"/>
          <p:cNvSpPr/>
          <p:nvPr/>
        </p:nvSpPr>
        <p:spPr>
          <a:xfrm>
            <a:off x="594360" y="2651760"/>
            <a:ext cx="4937760" cy="3593592"/>
          </a:xfrm>
          <a:prstGeom prst="roundRect">
            <a:avLst>
              <a:gd name="adj" fmla="val 7000"/>
            </a:avLst>
          </a:prstGeom>
          <a:solidFill>
            <a:srgbClr val="1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home-desktop-dark.png"/>
          <p:cNvPicPr>
            <a:picLocks noChangeAspect="1"/>
          </p:cNvPicPr>
          <p:nvPr/>
        </p:nvPicPr>
        <p:blipFill>
          <a:blip r:embed="rId3"/>
          <a:stretch>
            <a:fillRect/>
          </a:stretch>
        </p:blipFill>
        <p:spPr>
          <a:xfrm>
            <a:off x="777240" y="2978658"/>
            <a:ext cx="4572000" cy="2857500"/>
          </a:xfrm>
          <a:prstGeom prst="rect">
            <a:avLst/>
          </a:prstGeom>
        </p:spPr>
      </p:pic>
      <p:sp>
        <p:nvSpPr>
          <p:cNvPr id="8" name="TextBox 7"/>
          <p:cNvSpPr txBox="1"/>
          <p:nvPr/>
        </p:nvSpPr>
        <p:spPr>
          <a:xfrm>
            <a:off x="777240" y="5980176"/>
            <a:ext cx="4572000" cy="219456"/>
          </a:xfrm>
          <a:prstGeom prst="rect">
            <a:avLst/>
          </a:prstGeom>
          <a:noFill/>
        </p:spPr>
        <p:txBody>
          <a:bodyPr wrap="square" lIns="36576" tIns="0" rIns="36576" bIns="0">
            <a:spAutoFit/>
          </a:bodyPr>
          <a:lstStyle/>
          <a:p>
            <a:pPr algn="r" rtl="1">
              <a:spcAft>
                <a:spcPts val="600"/>
              </a:spcAft>
            </a:pPr>
            <a:r>
              <a:rPr lang="ar-JO" sz="1000" b="0">
                <a:solidFill>
                  <a:srgbClr val="B9CCD8"/>
                </a:solidFill>
                <a:latin typeface="Tahoma"/>
                <a:ea typeface="Tahoma"/>
                <a:cs typeface="Tahoma"/>
              </a:rPr>
              <a:t>لقطات فعلية من مراجعة واجهة المشروع</a:t>
            </a:r>
          </a:p>
        </p:txBody>
      </p:sp>
      <p:sp>
        <p:nvSpPr>
          <p:cNvPr id="9" name="Rounded Rectangle 8"/>
          <p:cNvSpPr/>
          <p:nvPr/>
        </p:nvSpPr>
        <p:spPr>
          <a:xfrm>
            <a:off x="5943600" y="2651760"/>
            <a:ext cx="5669280" cy="1723644"/>
          </a:xfrm>
          <a:prstGeom prst="roundRect">
            <a:avLst>
              <a:gd name="adj" fmla="val 7000"/>
            </a:avLst>
          </a:prstGeom>
          <a:solidFill>
            <a:srgbClr val="1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126480" y="2825496"/>
            <a:ext cx="5303520" cy="411480"/>
          </a:xfrm>
          <a:prstGeom prst="rect">
            <a:avLst/>
          </a:prstGeom>
          <a:noFill/>
        </p:spPr>
        <p:txBody>
          <a:bodyPr wrap="square" lIns="36576" tIns="0" rIns="36576" bIns="0">
            <a:spAutoFit/>
          </a:bodyPr>
          <a:lstStyle/>
          <a:p>
            <a:pPr algn="r" rtl="1">
              <a:spcAft>
                <a:spcPts val="600"/>
              </a:spcAft>
            </a:pPr>
            <a:r>
              <a:rPr lang="ar-JO" sz="1900" b="1">
                <a:solidFill>
                  <a:srgbClr val="66D7C4"/>
                </a:solidFill>
                <a:latin typeface="Tahoma"/>
                <a:ea typeface="Tahoma"/>
                <a:cs typeface="Tahoma"/>
              </a:rPr>
              <a:t>افهم البداية</a:t>
            </a:r>
          </a:p>
        </p:txBody>
      </p:sp>
      <p:sp>
        <p:nvSpPr>
          <p:cNvPr id="11" name="TextBox 10"/>
          <p:cNvSpPr txBox="1"/>
          <p:nvPr/>
        </p:nvSpPr>
        <p:spPr>
          <a:xfrm>
            <a:off x="6126480" y="3346704"/>
            <a:ext cx="5303520" cy="955547"/>
          </a:xfrm>
          <a:prstGeom prst="rect">
            <a:avLst/>
          </a:prstGeom>
          <a:noFill/>
        </p:spPr>
        <p:txBody>
          <a:bodyPr wrap="square" lIns="36576" tIns="0" rIns="36576" bIns="0">
            <a:spAutoFit/>
          </a:bodyPr>
          <a:lstStyle/>
          <a:p>
            <a:pPr algn="r" rtl="1">
              <a:spcAft>
                <a:spcPts val="600"/>
              </a:spcAft>
            </a:pPr>
            <a:r>
              <a:rPr lang="ar-JO" sz="1600" b="0">
                <a:solidFill>
                  <a:srgbClr val="F4F8FA"/>
                </a:solidFill>
                <a:latin typeface="Tahoma"/>
                <a:ea typeface="Tahoma"/>
                <a:cs typeface="Tahoma"/>
              </a:rPr>
              <a:t>اكتب فكرة مشروعك بالعربية، ووضّح ما ينقص من معلومات.</a:t>
            </a:r>
          </a:p>
        </p:txBody>
      </p:sp>
      <p:sp>
        <p:nvSpPr>
          <p:cNvPr id="12" name="Rounded Rectangle 11"/>
          <p:cNvSpPr/>
          <p:nvPr/>
        </p:nvSpPr>
        <p:spPr>
          <a:xfrm>
            <a:off x="5943600" y="4539996"/>
            <a:ext cx="5669280" cy="1723644"/>
          </a:xfrm>
          <a:prstGeom prst="roundRect">
            <a:avLst>
              <a:gd name="adj" fmla="val 7000"/>
            </a:avLst>
          </a:prstGeom>
          <a:solidFill>
            <a:srgbClr val="1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126480" y="4713732"/>
            <a:ext cx="5303520" cy="411480"/>
          </a:xfrm>
          <a:prstGeom prst="rect">
            <a:avLst/>
          </a:prstGeom>
          <a:noFill/>
        </p:spPr>
        <p:txBody>
          <a:bodyPr wrap="square" lIns="36576" tIns="0" rIns="36576" bIns="0">
            <a:spAutoFit/>
          </a:bodyPr>
          <a:lstStyle/>
          <a:p>
            <a:pPr algn="r" rtl="1">
              <a:spcAft>
                <a:spcPts val="600"/>
              </a:spcAft>
            </a:pPr>
            <a:r>
              <a:rPr lang="ar-JO" sz="1900" b="1">
                <a:solidFill>
                  <a:srgbClr val="66D7C4"/>
                </a:solidFill>
                <a:latin typeface="Tahoma"/>
                <a:ea typeface="Tahoma"/>
                <a:cs typeface="Tahoma"/>
              </a:rPr>
              <a:t>خطّط وتابع</a:t>
            </a:r>
          </a:p>
        </p:txBody>
      </p:sp>
      <p:sp>
        <p:nvSpPr>
          <p:cNvPr id="14" name="TextBox 13"/>
          <p:cNvSpPr txBox="1"/>
          <p:nvPr/>
        </p:nvSpPr>
        <p:spPr>
          <a:xfrm>
            <a:off x="6126480" y="5234940"/>
            <a:ext cx="5303520" cy="955547"/>
          </a:xfrm>
          <a:prstGeom prst="rect">
            <a:avLst/>
          </a:prstGeom>
          <a:noFill/>
        </p:spPr>
        <p:txBody>
          <a:bodyPr wrap="square" lIns="36576" tIns="0" rIns="36576" bIns="0">
            <a:spAutoFit/>
          </a:bodyPr>
          <a:lstStyle/>
          <a:p>
            <a:pPr algn="r" rtl="1">
              <a:spcAft>
                <a:spcPts val="600"/>
              </a:spcAft>
            </a:pPr>
            <a:r>
              <a:rPr lang="ar-JO" sz="1600" b="0">
                <a:solidFill>
                  <a:srgbClr val="F4F8FA"/>
                </a:solidFill>
                <a:latin typeface="Tahoma"/>
                <a:ea typeface="Tahoma"/>
                <a:cs typeface="Tahoma"/>
              </a:rPr>
              <a:t>خطة بحسب المجال، خطوات ومصادر، وقائمة تجهيز محفوظة.</a:t>
            </a:r>
          </a:p>
        </p:txBody>
      </p:sp>
      <p:sp>
        <p:nvSpPr>
          <p:cNvPr id="15" name="Rectangle 14"/>
          <p:cNvSpPr/>
          <p:nvPr/>
        </p:nvSpPr>
        <p:spPr>
          <a:xfrm>
            <a:off x="594360" y="6437376"/>
            <a:ext cx="11000232" cy="10972"/>
          </a:xfrm>
          <a:prstGeom prst="rect">
            <a:avLst/>
          </a:prstGeom>
          <a:solidFill>
            <a:srgbClr val="2941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212080" y="6547104"/>
            <a:ext cx="6355080" cy="210312"/>
          </a:xfrm>
          <a:prstGeom prst="rect">
            <a:avLst/>
          </a:prstGeom>
          <a:noFill/>
        </p:spPr>
        <p:txBody>
          <a:bodyPr wrap="square" lIns="36576" tIns="0" rIns="36576" bIns="0">
            <a:spAutoFit/>
          </a:bodyPr>
          <a:lstStyle/>
          <a:p>
            <a:pPr algn="r" rtl="1">
              <a:spcAft>
                <a:spcPts val="600"/>
              </a:spcAft>
            </a:pPr>
            <a:r>
              <a:rPr lang="ar-JO" sz="1000" b="0">
                <a:solidFill>
                  <a:srgbClr val="B9CCD8"/>
                </a:solidFill>
                <a:latin typeface="Tahoma"/>
                <a:ea typeface="Tahoma"/>
                <a:cs typeface="Tahoma"/>
              </a:rPr>
              <a:t>Mustanad Jo  |  MVP إرشادي · معايير 5–8</a:t>
            </a:r>
          </a:p>
        </p:txBody>
      </p:sp>
      <p:sp>
        <p:nvSpPr>
          <p:cNvPr id="17" name="TextBox 16"/>
          <p:cNvSpPr txBox="1"/>
          <p:nvPr/>
        </p:nvSpPr>
        <p:spPr>
          <a:xfrm>
            <a:off x="594360" y="6547104"/>
            <a:ext cx="1828800" cy="210312"/>
          </a:xfrm>
          <a:prstGeom prst="rect">
            <a:avLst/>
          </a:prstGeom>
          <a:noFill/>
        </p:spPr>
        <p:txBody>
          <a:bodyPr wrap="square" lIns="36576" tIns="0" rIns="36576" bIns="0">
            <a:spAutoFit/>
          </a:bodyPr>
          <a:lstStyle/>
          <a:p>
            <a:pPr algn="r" rtl="1">
              <a:spcAft>
                <a:spcPts val="600"/>
              </a:spcAft>
            </a:pPr>
            <a:r>
              <a:rPr lang="ar-JO" sz="1000" b="0">
                <a:solidFill>
                  <a:srgbClr val="B9CCD8"/>
                </a:solidFill>
                <a:latin typeface="Tahoma"/>
                <a:ea typeface="Tahoma"/>
                <a:cs typeface="Tahoma"/>
              </a:rPr>
              <a:t>الشريحة 1 من 17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1926"/>
        </a:solidFill>
        <a:effectLst/>
      </p:bgPr>
    </p:bg>
    <p:spTree>
      <p:nvGrpSpPr>
        <p:cNvPr id="1" name=""/>
        <p:cNvGrpSpPr/>
        <p:nvPr/>
      </p:nvGrpSpPr>
      <p:grpSpPr>
        <a:xfrm>
          <a:off x="0" y="0"/>
          <a:ext cx="0" cy="0"/>
          <a:chOff x="0" y="0"/>
          <a:chExt cx="0" cy="0"/>
        </a:xfrm>
      </p:grpSpPr>
      <p:sp>
        <p:nvSpPr>
          <p:cNvPr id="2" name="Rectangle 1"/>
          <p:cNvSpPr/>
          <p:nvPr/>
        </p:nvSpPr>
        <p:spPr>
          <a:xfrm>
            <a:off x="11539728" y="484632"/>
            <a:ext cx="54864" cy="1417320"/>
          </a:xfrm>
          <a:prstGeom prst="rect">
            <a:avLst/>
          </a:prstGeom>
          <a:solidFill>
            <a:srgbClr val="66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57200"/>
            <a:ext cx="10881360" cy="365760"/>
          </a:xfrm>
          <a:prstGeom prst="rect">
            <a:avLst/>
          </a:prstGeom>
          <a:noFill/>
        </p:spPr>
        <p:txBody>
          <a:bodyPr wrap="square" lIns="36576" tIns="0" rIns="36576" bIns="0">
            <a:spAutoFit/>
          </a:bodyPr>
          <a:lstStyle/>
          <a:p>
            <a:pPr algn="r" rtl="1">
              <a:spcAft>
                <a:spcPts val="600"/>
              </a:spcAft>
            </a:pPr>
            <a:r>
              <a:rPr lang="ar-JO" sz="1500" b="0">
                <a:solidFill>
                  <a:srgbClr val="66D7C4"/>
                </a:solidFill>
                <a:latin typeface="Tahoma"/>
                <a:ea typeface="Tahoma"/>
                <a:cs typeface="Tahoma"/>
              </a:rPr>
              <a:t>5A · المشكلة والقيمة</a:t>
            </a:r>
          </a:p>
        </p:txBody>
      </p:sp>
      <p:sp>
        <p:nvSpPr>
          <p:cNvPr id="4" name="TextBox 3"/>
          <p:cNvSpPr txBox="1"/>
          <p:nvPr/>
        </p:nvSpPr>
        <p:spPr>
          <a:xfrm>
            <a:off x="548640" y="932688"/>
            <a:ext cx="10881360" cy="640080"/>
          </a:xfrm>
          <a:prstGeom prst="rect">
            <a:avLst/>
          </a:prstGeom>
          <a:noFill/>
        </p:spPr>
        <p:txBody>
          <a:bodyPr wrap="square" lIns="36576" tIns="0" rIns="36576" bIns="0">
            <a:spAutoFit/>
          </a:bodyPr>
          <a:lstStyle/>
          <a:p>
            <a:pPr algn="r" rtl="1">
              <a:spcAft>
                <a:spcPts val="600"/>
              </a:spcAft>
            </a:pPr>
            <a:r>
              <a:rPr lang="ar-JO" sz="3400" b="1">
                <a:solidFill>
                  <a:srgbClr val="F4F8FA"/>
                </a:solidFill>
                <a:latin typeface="Tahoma"/>
                <a:ea typeface="Tahoma"/>
                <a:cs typeface="Tahoma"/>
              </a:rPr>
              <a:t>ماذا يحتاج صاحب المشروع؟</a:t>
            </a:r>
          </a:p>
        </p:txBody>
      </p:sp>
      <p:sp>
        <p:nvSpPr>
          <p:cNvPr id="5" name="TextBox 4"/>
          <p:cNvSpPr txBox="1"/>
          <p:nvPr/>
        </p:nvSpPr>
        <p:spPr>
          <a:xfrm>
            <a:off x="548640" y="1700784"/>
            <a:ext cx="10972800" cy="777240"/>
          </a:xfrm>
          <a:prstGeom prst="rect">
            <a:avLst/>
          </a:prstGeom>
          <a:noFill/>
        </p:spPr>
        <p:txBody>
          <a:bodyPr wrap="square" lIns="36576" tIns="0" rIns="36576" bIns="0">
            <a:spAutoFit/>
          </a:bodyPr>
          <a:lstStyle/>
          <a:p>
            <a:pPr algn="r" rtl="1">
              <a:spcAft>
                <a:spcPts val="600"/>
              </a:spcAft>
            </a:pPr>
            <a:r>
              <a:rPr lang="ar-JO" sz="2000" b="0">
                <a:solidFill>
                  <a:srgbClr val="B9CCD8"/>
                </a:solidFill>
                <a:latin typeface="Tahoma"/>
                <a:ea typeface="Tahoma"/>
                <a:cs typeface="Tahoma"/>
              </a:rPr>
              <a:t>بداية واضحة، وخطة مناسبة، وقدرة على مراجعة الإجابة ومتابعة العمل.</a:t>
            </a:r>
          </a:p>
        </p:txBody>
      </p:sp>
      <p:sp>
        <p:nvSpPr>
          <p:cNvPr id="6" name="Rounded Rectangle 5"/>
          <p:cNvSpPr/>
          <p:nvPr/>
        </p:nvSpPr>
        <p:spPr>
          <a:xfrm>
            <a:off x="8074152" y="2761488"/>
            <a:ext cx="3520439" cy="3209544"/>
          </a:xfrm>
          <a:prstGeom prst="roundRect">
            <a:avLst>
              <a:gd name="adj" fmla="val 7000"/>
            </a:avLst>
          </a:prstGeom>
          <a:solidFill>
            <a:srgbClr val="1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57031" y="2935224"/>
            <a:ext cx="3154679" cy="411480"/>
          </a:xfrm>
          <a:prstGeom prst="rect">
            <a:avLst/>
          </a:prstGeom>
          <a:noFill/>
        </p:spPr>
        <p:txBody>
          <a:bodyPr wrap="square" lIns="36576" tIns="0" rIns="36576" bIns="0">
            <a:spAutoFit/>
          </a:bodyPr>
          <a:lstStyle/>
          <a:p>
            <a:pPr algn="r" rtl="1">
              <a:spcAft>
                <a:spcPts val="600"/>
              </a:spcAft>
            </a:pPr>
            <a:r>
              <a:rPr lang="ar-JO" sz="2300" b="1">
                <a:solidFill>
                  <a:srgbClr val="66D7C4"/>
                </a:solidFill>
                <a:latin typeface="Tahoma"/>
                <a:ea typeface="Tahoma"/>
                <a:cs typeface="Tahoma"/>
              </a:rPr>
              <a:t>المشكلة التي نستهدفها</a:t>
            </a:r>
          </a:p>
        </p:txBody>
      </p:sp>
      <p:sp>
        <p:nvSpPr>
          <p:cNvPr id="8" name="TextBox 7"/>
          <p:cNvSpPr txBox="1"/>
          <p:nvPr/>
        </p:nvSpPr>
        <p:spPr>
          <a:xfrm>
            <a:off x="8257031" y="3456432"/>
            <a:ext cx="3154679" cy="2441448"/>
          </a:xfrm>
          <a:prstGeom prst="rect">
            <a:avLst/>
          </a:prstGeom>
          <a:noFill/>
        </p:spPr>
        <p:txBody>
          <a:bodyPr wrap="square" lIns="36576" tIns="0" rIns="36576" bIns="0">
            <a:spAutoFit/>
          </a:bodyPr>
          <a:lstStyle/>
          <a:p>
            <a:pPr algn="r" rtl="1">
              <a:spcAft>
                <a:spcPts val="600"/>
              </a:spcAft>
            </a:pPr>
            <a:r>
              <a:rPr lang="ar-JO" sz="2100" b="0">
                <a:solidFill>
                  <a:srgbClr val="F4F8FA"/>
                </a:solidFill>
                <a:latin typeface="Tahoma"/>
                <a:ea typeface="Tahoma"/>
                <a:cs typeface="Tahoma"/>
              </a:rPr>
              <a:t>تشتت الخطوات والمعلومات، واختلاف الاحتياجات بحسب النشاط وحالة الموقع.</a:t>
            </a:r>
          </a:p>
        </p:txBody>
      </p:sp>
      <p:sp>
        <p:nvSpPr>
          <p:cNvPr id="9" name="Rounded Rectangle 8"/>
          <p:cNvSpPr/>
          <p:nvPr/>
        </p:nvSpPr>
        <p:spPr>
          <a:xfrm>
            <a:off x="4334256" y="2761488"/>
            <a:ext cx="3520439" cy="3209544"/>
          </a:xfrm>
          <a:prstGeom prst="roundRect">
            <a:avLst>
              <a:gd name="adj" fmla="val 7000"/>
            </a:avLst>
          </a:prstGeom>
          <a:solidFill>
            <a:srgbClr val="1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17136" y="2935224"/>
            <a:ext cx="3154679" cy="411480"/>
          </a:xfrm>
          <a:prstGeom prst="rect">
            <a:avLst/>
          </a:prstGeom>
          <a:noFill/>
        </p:spPr>
        <p:txBody>
          <a:bodyPr wrap="square" lIns="36576" tIns="0" rIns="36576" bIns="0">
            <a:spAutoFit/>
          </a:bodyPr>
          <a:lstStyle/>
          <a:p>
            <a:pPr algn="r" rtl="1">
              <a:spcAft>
                <a:spcPts val="600"/>
              </a:spcAft>
            </a:pPr>
            <a:r>
              <a:rPr lang="ar-JO" sz="2300" b="1">
                <a:solidFill>
                  <a:srgbClr val="66D7C4"/>
                </a:solidFill>
                <a:latin typeface="Tahoma"/>
                <a:ea typeface="Tahoma"/>
                <a:cs typeface="Tahoma"/>
              </a:rPr>
              <a:t>حلّنا الحالي</a:t>
            </a:r>
          </a:p>
        </p:txBody>
      </p:sp>
      <p:sp>
        <p:nvSpPr>
          <p:cNvPr id="11" name="TextBox 10"/>
          <p:cNvSpPr txBox="1"/>
          <p:nvPr/>
        </p:nvSpPr>
        <p:spPr>
          <a:xfrm>
            <a:off x="4517136" y="3456432"/>
            <a:ext cx="3154679" cy="2441448"/>
          </a:xfrm>
          <a:prstGeom prst="rect">
            <a:avLst/>
          </a:prstGeom>
          <a:noFill/>
        </p:spPr>
        <p:txBody>
          <a:bodyPr wrap="square" lIns="36576" tIns="0" rIns="36576" bIns="0">
            <a:spAutoFit/>
          </a:bodyPr>
          <a:lstStyle/>
          <a:p>
            <a:pPr algn="r" rtl="1">
              <a:spcAft>
                <a:spcPts val="600"/>
              </a:spcAft>
            </a:pPr>
            <a:r>
              <a:rPr lang="ar-JO" sz="2100" b="0">
                <a:solidFill>
                  <a:srgbClr val="F4F8FA"/>
                </a:solidFill>
                <a:latin typeface="Tahoma"/>
                <a:ea typeface="Tahoma"/>
                <a:cs typeface="Tahoma"/>
              </a:rPr>
              <a:t>مدخل عربي → توضيح → رحلة أو خطة → مصادر وحفظ → دعم.</a:t>
            </a:r>
          </a:p>
        </p:txBody>
      </p:sp>
      <p:sp>
        <p:nvSpPr>
          <p:cNvPr id="12" name="Rounded Rectangle 11"/>
          <p:cNvSpPr/>
          <p:nvPr/>
        </p:nvSpPr>
        <p:spPr>
          <a:xfrm>
            <a:off x="594360" y="2761488"/>
            <a:ext cx="3520439" cy="3209544"/>
          </a:xfrm>
          <a:prstGeom prst="roundRect">
            <a:avLst>
              <a:gd name="adj" fmla="val 7000"/>
            </a:avLst>
          </a:prstGeom>
          <a:solidFill>
            <a:srgbClr val="1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7240" y="2935224"/>
            <a:ext cx="3154679" cy="411480"/>
          </a:xfrm>
          <a:prstGeom prst="rect">
            <a:avLst/>
          </a:prstGeom>
          <a:noFill/>
        </p:spPr>
        <p:txBody>
          <a:bodyPr wrap="square" lIns="36576" tIns="0" rIns="36576" bIns="0">
            <a:spAutoFit/>
          </a:bodyPr>
          <a:lstStyle/>
          <a:p>
            <a:pPr algn="r" rtl="1">
              <a:spcAft>
                <a:spcPts val="600"/>
              </a:spcAft>
            </a:pPr>
            <a:r>
              <a:rPr lang="ar-JO" sz="2300" b="1">
                <a:solidFill>
                  <a:srgbClr val="66D7C4"/>
                </a:solidFill>
                <a:latin typeface="Tahoma"/>
                <a:ea typeface="Tahoma"/>
                <a:cs typeface="Tahoma"/>
              </a:rPr>
              <a:t>كيف نثبت القيمة؟</a:t>
            </a:r>
          </a:p>
        </p:txBody>
      </p:sp>
      <p:sp>
        <p:nvSpPr>
          <p:cNvPr id="14" name="TextBox 13"/>
          <p:cNvSpPr txBox="1"/>
          <p:nvPr/>
        </p:nvSpPr>
        <p:spPr>
          <a:xfrm>
            <a:off x="777240" y="3456432"/>
            <a:ext cx="3154679" cy="2441448"/>
          </a:xfrm>
          <a:prstGeom prst="rect">
            <a:avLst/>
          </a:prstGeom>
          <a:noFill/>
        </p:spPr>
        <p:txBody>
          <a:bodyPr wrap="square" lIns="36576" tIns="0" rIns="36576" bIns="0">
            <a:spAutoFit/>
          </a:bodyPr>
          <a:lstStyle/>
          <a:p>
            <a:pPr algn="r" rtl="1">
              <a:spcAft>
                <a:spcPts val="600"/>
              </a:spcAft>
            </a:pPr>
            <a:r>
              <a:rPr lang="ar-JO" sz="2100" b="0">
                <a:solidFill>
                  <a:srgbClr val="F4F8FA"/>
                </a:solidFill>
                <a:latin typeface="Tahoma"/>
                <a:ea typeface="Tahoma"/>
                <a:cs typeface="Tahoma"/>
              </a:rPr>
              <a:t>نعرض رحلة فعلية. لم نقِس بعد وفورات مالية أو نجاح مستخدمين ميدانيًا.</a:t>
            </a:r>
          </a:p>
        </p:txBody>
      </p:sp>
      <p:sp>
        <p:nvSpPr>
          <p:cNvPr id="15" name="Rectangle 14"/>
          <p:cNvSpPr/>
          <p:nvPr/>
        </p:nvSpPr>
        <p:spPr>
          <a:xfrm>
            <a:off x="594360" y="6437376"/>
            <a:ext cx="11000232" cy="10972"/>
          </a:xfrm>
          <a:prstGeom prst="rect">
            <a:avLst/>
          </a:prstGeom>
          <a:solidFill>
            <a:srgbClr val="2941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212080" y="6547104"/>
            <a:ext cx="6355080" cy="210312"/>
          </a:xfrm>
          <a:prstGeom prst="rect">
            <a:avLst/>
          </a:prstGeom>
          <a:noFill/>
        </p:spPr>
        <p:txBody>
          <a:bodyPr wrap="square" lIns="36576" tIns="0" rIns="36576" bIns="0">
            <a:spAutoFit/>
          </a:bodyPr>
          <a:lstStyle/>
          <a:p>
            <a:pPr algn="r" rtl="1">
              <a:spcAft>
                <a:spcPts val="600"/>
              </a:spcAft>
            </a:pPr>
            <a:r>
              <a:rPr lang="ar-JO" sz="1000" b="0">
                <a:solidFill>
                  <a:srgbClr val="B9CCD8"/>
                </a:solidFill>
                <a:latin typeface="Tahoma"/>
                <a:ea typeface="Tahoma"/>
                <a:cs typeface="Tahoma"/>
              </a:rPr>
              <a:t>Mustanad Jo  |  MVP إرشادي · معايير 5–8</a:t>
            </a:r>
          </a:p>
        </p:txBody>
      </p:sp>
      <p:sp>
        <p:nvSpPr>
          <p:cNvPr id="17" name="TextBox 16"/>
          <p:cNvSpPr txBox="1"/>
          <p:nvPr/>
        </p:nvSpPr>
        <p:spPr>
          <a:xfrm>
            <a:off x="594360" y="6547104"/>
            <a:ext cx="1828800" cy="210312"/>
          </a:xfrm>
          <a:prstGeom prst="rect">
            <a:avLst/>
          </a:prstGeom>
          <a:noFill/>
        </p:spPr>
        <p:txBody>
          <a:bodyPr wrap="square" lIns="36576" tIns="0" rIns="36576" bIns="0">
            <a:spAutoFit/>
          </a:bodyPr>
          <a:lstStyle/>
          <a:p>
            <a:pPr algn="r" rtl="1">
              <a:spcAft>
                <a:spcPts val="600"/>
              </a:spcAft>
            </a:pPr>
            <a:r>
              <a:rPr lang="ar-JO" sz="1000" b="0">
                <a:solidFill>
                  <a:srgbClr val="B9CCD8"/>
                </a:solidFill>
                <a:latin typeface="Tahoma"/>
                <a:ea typeface="Tahoma"/>
                <a:cs typeface="Tahoma"/>
              </a:rPr>
              <a:t>الشريحة 2 من 17</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1926"/>
        </a:solidFill>
        <a:effectLst/>
      </p:bgPr>
    </p:bg>
    <p:spTree>
      <p:nvGrpSpPr>
        <p:cNvPr id="1" name=""/>
        <p:cNvGrpSpPr/>
        <p:nvPr/>
      </p:nvGrpSpPr>
      <p:grpSpPr>
        <a:xfrm>
          <a:off x="0" y="0"/>
          <a:ext cx="0" cy="0"/>
          <a:chOff x="0" y="0"/>
          <a:chExt cx="0" cy="0"/>
        </a:xfrm>
      </p:grpSpPr>
      <p:sp>
        <p:nvSpPr>
          <p:cNvPr id="2" name="Rectangle 1"/>
          <p:cNvSpPr/>
          <p:nvPr/>
        </p:nvSpPr>
        <p:spPr>
          <a:xfrm>
            <a:off x="11539728" y="484632"/>
            <a:ext cx="54864" cy="1417320"/>
          </a:xfrm>
          <a:prstGeom prst="rect">
            <a:avLst/>
          </a:prstGeom>
          <a:solidFill>
            <a:srgbClr val="66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57200"/>
            <a:ext cx="10881360" cy="365760"/>
          </a:xfrm>
          <a:prstGeom prst="rect">
            <a:avLst/>
          </a:prstGeom>
          <a:noFill/>
        </p:spPr>
        <p:txBody>
          <a:bodyPr wrap="square" lIns="36576" tIns="0" rIns="36576" bIns="0">
            <a:spAutoFit/>
          </a:bodyPr>
          <a:lstStyle/>
          <a:p>
            <a:pPr algn="r" rtl="1">
              <a:spcAft>
                <a:spcPts val="600"/>
              </a:spcAft>
            </a:pPr>
            <a:r>
              <a:rPr lang="ar-JO" sz="1500" b="0">
                <a:solidFill>
                  <a:srgbClr val="66D7C4"/>
                </a:solidFill>
                <a:latin typeface="Tahoma"/>
                <a:ea typeface="Tahoma"/>
                <a:cs typeface="Tahoma"/>
              </a:rPr>
              <a:t>5A · أصحاب المصلحة والمتطلبات</a:t>
            </a:r>
          </a:p>
        </p:txBody>
      </p:sp>
      <p:sp>
        <p:nvSpPr>
          <p:cNvPr id="4" name="TextBox 3"/>
          <p:cNvSpPr txBox="1"/>
          <p:nvPr/>
        </p:nvSpPr>
        <p:spPr>
          <a:xfrm>
            <a:off x="548640" y="932688"/>
            <a:ext cx="10881360" cy="640080"/>
          </a:xfrm>
          <a:prstGeom prst="rect">
            <a:avLst/>
          </a:prstGeom>
          <a:noFill/>
        </p:spPr>
        <p:txBody>
          <a:bodyPr wrap="square" lIns="36576" tIns="0" rIns="36576" bIns="0">
            <a:spAutoFit/>
          </a:bodyPr>
          <a:lstStyle/>
          <a:p>
            <a:pPr algn="r" rtl="1">
              <a:spcAft>
                <a:spcPts val="600"/>
              </a:spcAft>
            </a:pPr>
            <a:r>
              <a:rPr lang="ar-JO" sz="3400" b="1">
                <a:solidFill>
                  <a:srgbClr val="F4F8FA"/>
                </a:solidFill>
                <a:latin typeface="Tahoma"/>
                <a:ea typeface="Tahoma"/>
                <a:cs typeface="Tahoma"/>
              </a:rPr>
              <a:t>لمن بنينا المشروع؟</a:t>
            </a:r>
          </a:p>
        </p:txBody>
      </p:sp>
      <p:sp>
        <p:nvSpPr>
          <p:cNvPr id="5" name="TextBox 4"/>
          <p:cNvSpPr txBox="1"/>
          <p:nvPr/>
        </p:nvSpPr>
        <p:spPr>
          <a:xfrm>
            <a:off x="548640" y="1700784"/>
            <a:ext cx="10972800" cy="777240"/>
          </a:xfrm>
          <a:prstGeom prst="rect">
            <a:avLst/>
          </a:prstGeom>
          <a:noFill/>
        </p:spPr>
        <p:txBody>
          <a:bodyPr wrap="square" lIns="36576" tIns="0" rIns="36576" bIns="0">
            <a:spAutoFit/>
          </a:bodyPr>
          <a:lstStyle/>
          <a:p>
            <a:pPr algn="r" rtl="1">
              <a:spcAft>
                <a:spcPts val="600"/>
              </a:spcAft>
            </a:pPr>
            <a:r>
              <a:rPr lang="ar-JO" sz="2000" b="0">
                <a:solidFill>
                  <a:srgbClr val="B9CCD8"/>
                </a:solidFill>
                <a:latin typeface="Tahoma"/>
                <a:ea typeface="Tahoma"/>
                <a:cs typeface="Tahoma"/>
              </a:rPr>
              <a:t>كل طرف له حاجة واضحة ووظيفة تخدمها داخل النسخة الحالية.</a:t>
            </a:r>
          </a:p>
        </p:txBody>
      </p:sp>
      <p:sp>
        <p:nvSpPr>
          <p:cNvPr id="6" name="Rounded Rectangle 5"/>
          <p:cNvSpPr/>
          <p:nvPr/>
        </p:nvSpPr>
        <p:spPr>
          <a:xfrm>
            <a:off x="8074152" y="2761488"/>
            <a:ext cx="3520439" cy="3209544"/>
          </a:xfrm>
          <a:prstGeom prst="roundRect">
            <a:avLst>
              <a:gd name="adj" fmla="val 7000"/>
            </a:avLst>
          </a:prstGeom>
          <a:solidFill>
            <a:srgbClr val="1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57031" y="2935224"/>
            <a:ext cx="3154679" cy="411480"/>
          </a:xfrm>
          <a:prstGeom prst="rect">
            <a:avLst/>
          </a:prstGeom>
          <a:noFill/>
        </p:spPr>
        <p:txBody>
          <a:bodyPr wrap="square" lIns="36576" tIns="0" rIns="36576" bIns="0">
            <a:spAutoFit/>
          </a:bodyPr>
          <a:lstStyle/>
          <a:p>
            <a:pPr algn="r" rtl="1">
              <a:spcAft>
                <a:spcPts val="600"/>
              </a:spcAft>
            </a:pPr>
            <a:r>
              <a:rPr lang="ar-JO" sz="2300" b="1">
                <a:solidFill>
                  <a:srgbClr val="66D7C4"/>
                </a:solidFill>
                <a:latin typeface="Tahoma"/>
                <a:ea typeface="Tahoma"/>
                <a:cs typeface="Tahoma"/>
              </a:rPr>
              <a:t>صاحب المشروع</a:t>
            </a:r>
          </a:p>
        </p:txBody>
      </p:sp>
      <p:sp>
        <p:nvSpPr>
          <p:cNvPr id="8" name="TextBox 7"/>
          <p:cNvSpPr txBox="1"/>
          <p:nvPr/>
        </p:nvSpPr>
        <p:spPr>
          <a:xfrm>
            <a:off x="8257031" y="3456432"/>
            <a:ext cx="3154679" cy="2441448"/>
          </a:xfrm>
          <a:prstGeom prst="rect">
            <a:avLst/>
          </a:prstGeom>
          <a:noFill/>
        </p:spPr>
        <p:txBody>
          <a:bodyPr wrap="square" lIns="36576" tIns="0" rIns="36576" bIns="0">
            <a:spAutoFit/>
          </a:bodyPr>
          <a:lstStyle/>
          <a:p>
            <a:pPr algn="r" rtl="1">
              <a:spcAft>
                <a:spcPts val="600"/>
              </a:spcAft>
            </a:pPr>
            <a:r>
              <a:rPr lang="ar-JO" sz="2100" b="0">
                <a:solidFill>
                  <a:srgbClr val="F4F8FA"/>
                </a:solidFill>
                <a:latin typeface="Tahoma"/>
                <a:ea typeface="Tahoma"/>
                <a:cs typeface="Tahoma"/>
              </a:rPr>
              <a:t>وصف عربي وخطة مفهومة، ثم سجل وقائمة تجهيز تعود معه لاحقًا.</a:t>
            </a:r>
          </a:p>
        </p:txBody>
      </p:sp>
      <p:sp>
        <p:nvSpPr>
          <p:cNvPr id="9" name="Rounded Rectangle 8"/>
          <p:cNvSpPr/>
          <p:nvPr/>
        </p:nvSpPr>
        <p:spPr>
          <a:xfrm>
            <a:off x="4334256" y="2761488"/>
            <a:ext cx="3520439" cy="3209544"/>
          </a:xfrm>
          <a:prstGeom prst="roundRect">
            <a:avLst>
              <a:gd name="adj" fmla="val 7000"/>
            </a:avLst>
          </a:prstGeom>
          <a:solidFill>
            <a:srgbClr val="1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17136" y="2935224"/>
            <a:ext cx="3154679" cy="411480"/>
          </a:xfrm>
          <a:prstGeom prst="rect">
            <a:avLst/>
          </a:prstGeom>
          <a:noFill/>
        </p:spPr>
        <p:txBody>
          <a:bodyPr wrap="square" lIns="36576" tIns="0" rIns="36576" bIns="0">
            <a:spAutoFit/>
          </a:bodyPr>
          <a:lstStyle/>
          <a:p>
            <a:pPr algn="r" rtl="1">
              <a:spcAft>
                <a:spcPts val="600"/>
              </a:spcAft>
            </a:pPr>
            <a:r>
              <a:rPr lang="ar-JO" sz="2300" b="1">
                <a:solidFill>
                  <a:srgbClr val="66D7C4"/>
                </a:solidFill>
                <a:latin typeface="Tahoma"/>
                <a:ea typeface="Tahoma"/>
                <a:cs typeface="Tahoma"/>
              </a:rPr>
              <a:t>المدير والدعم</a:t>
            </a:r>
          </a:p>
        </p:txBody>
      </p:sp>
      <p:sp>
        <p:nvSpPr>
          <p:cNvPr id="11" name="TextBox 10"/>
          <p:cNvSpPr txBox="1"/>
          <p:nvPr/>
        </p:nvSpPr>
        <p:spPr>
          <a:xfrm>
            <a:off x="4517136" y="3456432"/>
            <a:ext cx="3154679" cy="2441448"/>
          </a:xfrm>
          <a:prstGeom prst="rect">
            <a:avLst/>
          </a:prstGeom>
          <a:noFill/>
        </p:spPr>
        <p:txBody>
          <a:bodyPr wrap="square" lIns="36576" tIns="0" rIns="36576" bIns="0">
            <a:spAutoFit/>
          </a:bodyPr>
          <a:lstStyle/>
          <a:p>
            <a:pPr algn="r" rtl="1">
              <a:spcAft>
                <a:spcPts val="600"/>
              </a:spcAft>
            </a:pPr>
            <a:r>
              <a:rPr lang="ar-JO" sz="2100" b="0">
                <a:solidFill>
                  <a:srgbClr val="F4F8FA"/>
                </a:solidFill>
                <a:latin typeface="Tahoma"/>
                <a:ea typeface="Tahoma"/>
                <a:cs typeface="Tahoma"/>
              </a:rPr>
              <a:t>إدارة الحسابات والأدوار والحظر، ومتابعة الرسائل والرد عليها.</a:t>
            </a:r>
          </a:p>
        </p:txBody>
      </p:sp>
      <p:sp>
        <p:nvSpPr>
          <p:cNvPr id="12" name="Rounded Rectangle 11"/>
          <p:cNvSpPr/>
          <p:nvPr/>
        </p:nvSpPr>
        <p:spPr>
          <a:xfrm>
            <a:off x="594360" y="2761488"/>
            <a:ext cx="3520439" cy="3209544"/>
          </a:xfrm>
          <a:prstGeom prst="roundRect">
            <a:avLst>
              <a:gd name="adj" fmla="val 7000"/>
            </a:avLst>
          </a:prstGeom>
          <a:solidFill>
            <a:srgbClr val="1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7240" y="2935224"/>
            <a:ext cx="3154679" cy="411480"/>
          </a:xfrm>
          <a:prstGeom prst="rect">
            <a:avLst/>
          </a:prstGeom>
          <a:noFill/>
        </p:spPr>
        <p:txBody>
          <a:bodyPr wrap="square" lIns="36576" tIns="0" rIns="36576" bIns="0">
            <a:spAutoFit/>
          </a:bodyPr>
          <a:lstStyle/>
          <a:p>
            <a:pPr algn="r" rtl="1">
              <a:spcAft>
                <a:spcPts val="600"/>
              </a:spcAft>
            </a:pPr>
            <a:r>
              <a:rPr lang="ar-JO" sz="2300" b="1">
                <a:solidFill>
                  <a:srgbClr val="66D7C4"/>
                </a:solidFill>
                <a:latin typeface="Tahoma"/>
                <a:ea typeface="Tahoma"/>
                <a:cs typeface="Tahoma"/>
              </a:rPr>
              <a:t>مراجع المحتوى والمطوّر</a:t>
            </a:r>
          </a:p>
        </p:txBody>
      </p:sp>
      <p:sp>
        <p:nvSpPr>
          <p:cNvPr id="14" name="TextBox 13"/>
          <p:cNvSpPr txBox="1"/>
          <p:nvPr/>
        </p:nvSpPr>
        <p:spPr>
          <a:xfrm>
            <a:off x="777240" y="3456432"/>
            <a:ext cx="3154679" cy="2441448"/>
          </a:xfrm>
          <a:prstGeom prst="rect">
            <a:avLst/>
          </a:prstGeom>
          <a:noFill/>
        </p:spPr>
        <p:txBody>
          <a:bodyPr wrap="square" lIns="36576" tIns="0" rIns="36576" bIns="0">
            <a:spAutoFit/>
          </a:bodyPr>
          <a:lstStyle/>
          <a:p>
            <a:pPr algn="r" rtl="1">
              <a:spcAft>
                <a:spcPts val="600"/>
              </a:spcAft>
            </a:pPr>
            <a:r>
              <a:rPr lang="ar-JO" sz="2100" b="0">
                <a:solidFill>
                  <a:srgbClr val="F4F8FA"/>
                </a:solidFill>
                <a:latin typeface="Tahoma"/>
                <a:ea typeface="Tahoma"/>
                <a:cs typeface="Tahoma"/>
              </a:rPr>
              <a:t>مصدر وحالة مراجعة، وقواعد مستقلة وعقود واختبارات وتوثيق تشغيل.</a:t>
            </a:r>
          </a:p>
        </p:txBody>
      </p:sp>
      <p:sp>
        <p:nvSpPr>
          <p:cNvPr id="15" name="Rectangle 14"/>
          <p:cNvSpPr/>
          <p:nvPr/>
        </p:nvSpPr>
        <p:spPr>
          <a:xfrm>
            <a:off x="594360" y="6437376"/>
            <a:ext cx="11000232" cy="10972"/>
          </a:xfrm>
          <a:prstGeom prst="rect">
            <a:avLst/>
          </a:prstGeom>
          <a:solidFill>
            <a:srgbClr val="2941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212080" y="6547104"/>
            <a:ext cx="6355080" cy="210312"/>
          </a:xfrm>
          <a:prstGeom prst="rect">
            <a:avLst/>
          </a:prstGeom>
          <a:noFill/>
        </p:spPr>
        <p:txBody>
          <a:bodyPr wrap="square" lIns="36576" tIns="0" rIns="36576" bIns="0">
            <a:spAutoFit/>
          </a:bodyPr>
          <a:lstStyle/>
          <a:p>
            <a:pPr algn="r" rtl="1">
              <a:spcAft>
                <a:spcPts val="600"/>
              </a:spcAft>
            </a:pPr>
            <a:r>
              <a:rPr lang="ar-JO" sz="1000" b="0">
                <a:solidFill>
                  <a:srgbClr val="B9CCD8"/>
                </a:solidFill>
                <a:latin typeface="Tahoma"/>
                <a:ea typeface="Tahoma"/>
                <a:cs typeface="Tahoma"/>
              </a:rPr>
              <a:t>Mustanad Jo  |  MVP إرشادي · معايير 5–8</a:t>
            </a:r>
          </a:p>
        </p:txBody>
      </p:sp>
      <p:sp>
        <p:nvSpPr>
          <p:cNvPr id="17" name="TextBox 16"/>
          <p:cNvSpPr txBox="1"/>
          <p:nvPr/>
        </p:nvSpPr>
        <p:spPr>
          <a:xfrm>
            <a:off x="594360" y="6547104"/>
            <a:ext cx="1828800" cy="210312"/>
          </a:xfrm>
          <a:prstGeom prst="rect">
            <a:avLst/>
          </a:prstGeom>
          <a:noFill/>
        </p:spPr>
        <p:txBody>
          <a:bodyPr wrap="square" lIns="36576" tIns="0" rIns="36576" bIns="0">
            <a:spAutoFit/>
          </a:bodyPr>
          <a:lstStyle/>
          <a:p>
            <a:pPr algn="r" rtl="1">
              <a:spcAft>
                <a:spcPts val="600"/>
              </a:spcAft>
            </a:pPr>
            <a:r>
              <a:rPr lang="ar-JO" sz="1000" b="0">
                <a:solidFill>
                  <a:srgbClr val="B9CCD8"/>
                </a:solidFill>
                <a:latin typeface="Tahoma"/>
                <a:ea typeface="Tahoma"/>
                <a:cs typeface="Tahoma"/>
              </a:rPr>
              <a:t>الشريحة 3 من 17</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1926"/>
        </a:solidFill>
        <a:effectLst/>
      </p:bgPr>
    </p:bg>
    <p:spTree>
      <p:nvGrpSpPr>
        <p:cNvPr id="1" name=""/>
        <p:cNvGrpSpPr/>
        <p:nvPr/>
      </p:nvGrpSpPr>
      <p:grpSpPr>
        <a:xfrm>
          <a:off x="0" y="0"/>
          <a:ext cx="0" cy="0"/>
          <a:chOff x="0" y="0"/>
          <a:chExt cx="0" cy="0"/>
        </a:xfrm>
      </p:grpSpPr>
      <p:sp>
        <p:nvSpPr>
          <p:cNvPr id="2" name="Rectangle 1"/>
          <p:cNvSpPr/>
          <p:nvPr/>
        </p:nvSpPr>
        <p:spPr>
          <a:xfrm>
            <a:off x="11539728" y="484632"/>
            <a:ext cx="54864" cy="1417320"/>
          </a:xfrm>
          <a:prstGeom prst="rect">
            <a:avLst/>
          </a:prstGeom>
          <a:solidFill>
            <a:srgbClr val="66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57200"/>
            <a:ext cx="10881360" cy="365760"/>
          </a:xfrm>
          <a:prstGeom prst="rect">
            <a:avLst/>
          </a:prstGeom>
          <a:noFill/>
        </p:spPr>
        <p:txBody>
          <a:bodyPr wrap="square" lIns="36576" tIns="0" rIns="36576" bIns="0">
            <a:spAutoFit/>
          </a:bodyPr>
          <a:lstStyle/>
          <a:p>
            <a:pPr algn="r" rtl="1">
              <a:spcAft>
                <a:spcPts val="600"/>
              </a:spcAft>
            </a:pPr>
            <a:r>
              <a:rPr lang="ar-JO" sz="1500" b="0">
                <a:solidFill>
                  <a:srgbClr val="66D7C4"/>
                </a:solidFill>
                <a:latin typeface="Tahoma"/>
                <a:ea typeface="Tahoma"/>
                <a:cs typeface="Tahoma"/>
              </a:rPr>
              <a:t>5A / 8 · حدود MVP وأولوياته</a:t>
            </a:r>
          </a:p>
        </p:txBody>
      </p:sp>
      <p:sp>
        <p:nvSpPr>
          <p:cNvPr id="4" name="TextBox 3"/>
          <p:cNvSpPr txBox="1"/>
          <p:nvPr/>
        </p:nvSpPr>
        <p:spPr>
          <a:xfrm>
            <a:off x="548640" y="932688"/>
            <a:ext cx="10881360" cy="640080"/>
          </a:xfrm>
          <a:prstGeom prst="rect">
            <a:avLst/>
          </a:prstGeom>
          <a:noFill/>
        </p:spPr>
        <p:txBody>
          <a:bodyPr wrap="square" lIns="36576" tIns="0" rIns="36576" bIns="0">
            <a:spAutoFit/>
          </a:bodyPr>
          <a:lstStyle/>
          <a:p>
            <a:pPr algn="r" rtl="1">
              <a:spcAft>
                <a:spcPts val="600"/>
              </a:spcAft>
            </a:pPr>
            <a:r>
              <a:rPr lang="ar-JO" sz="3400" b="1">
                <a:solidFill>
                  <a:srgbClr val="F4F8FA"/>
                </a:solidFill>
                <a:latin typeface="Tahoma"/>
                <a:ea typeface="Tahoma"/>
                <a:cs typeface="Tahoma"/>
              </a:rPr>
              <a:t>ما يعمل في النسخة الحالية؟</a:t>
            </a:r>
          </a:p>
        </p:txBody>
      </p:sp>
      <p:sp>
        <p:nvSpPr>
          <p:cNvPr id="5" name="TextBox 4"/>
          <p:cNvSpPr txBox="1"/>
          <p:nvPr/>
        </p:nvSpPr>
        <p:spPr>
          <a:xfrm>
            <a:off x="548640" y="1700784"/>
            <a:ext cx="10972800" cy="777240"/>
          </a:xfrm>
          <a:prstGeom prst="rect">
            <a:avLst/>
          </a:prstGeom>
          <a:noFill/>
        </p:spPr>
        <p:txBody>
          <a:bodyPr wrap="square" lIns="36576" tIns="0" rIns="36576" bIns="0">
            <a:spAutoFit/>
          </a:bodyPr>
          <a:lstStyle/>
          <a:p>
            <a:pPr algn="r" rtl="1">
              <a:spcAft>
                <a:spcPts val="600"/>
              </a:spcAft>
            </a:pPr>
            <a:r>
              <a:rPr lang="ar-JO" sz="2000" b="0">
                <a:solidFill>
                  <a:srgbClr val="B9CCD8"/>
                </a:solidFill>
                <a:latin typeface="Tahoma"/>
                <a:ea typeface="Tahoma"/>
                <a:cs typeface="Tahoma"/>
              </a:rPr>
              <a:t>نوضح الوظائف المنفذة ونفصل التخطيط العام عن الإجراءات الرسمية.</a:t>
            </a:r>
          </a:p>
        </p:txBody>
      </p:sp>
      <p:sp>
        <p:nvSpPr>
          <p:cNvPr id="6" name="Rounded Rectangle 5"/>
          <p:cNvSpPr/>
          <p:nvPr/>
        </p:nvSpPr>
        <p:spPr>
          <a:xfrm>
            <a:off x="8074152" y="2761488"/>
            <a:ext cx="3520439" cy="3209544"/>
          </a:xfrm>
          <a:prstGeom prst="roundRect">
            <a:avLst>
              <a:gd name="adj" fmla="val 7000"/>
            </a:avLst>
          </a:prstGeom>
          <a:solidFill>
            <a:srgbClr val="1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57031" y="2935224"/>
            <a:ext cx="3154679" cy="411480"/>
          </a:xfrm>
          <a:prstGeom prst="rect">
            <a:avLst/>
          </a:prstGeom>
          <a:noFill/>
        </p:spPr>
        <p:txBody>
          <a:bodyPr wrap="square" lIns="36576" tIns="0" rIns="36576" bIns="0">
            <a:spAutoFit/>
          </a:bodyPr>
          <a:lstStyle/>
          <a:p>
            <a:pPr algn="r" rtl="1">
              <a:spcAft>
                <a:spcPts val="600"/>
              </a:spcAft>
            </a:pPr>
            <a:r>
              <a:rPr lang="ar-JO" sz="2300" b="1">
                <a:solidFill>
                  <a:srgbClr val="66D7C4"/>
                </a:solidFill>
                <a:latin typeface="Tahoma"/>
                <a:ea typeface="Tahoma"/>
                <a:cs typeface="Tahoma"/>
              </a:rPr>
              <a:t>الأساس · Must</a:t>
            </a:r>
          </a:p>
        </p:txBody>
      </p:sp>
      <p:sp>
        <p:nvSpPr>
          <p:cNvPr id="8" name="TextBox 7"/>
          <p:cNvSpPr txBox="1"/>
          <p:nvPr/>
        </p:nvSpPr>
        <p:spPr>
          <a:xfrm>
            <a:off x="8257031" y="3456432"/>
            <a:ext cx="3154679" cy="2441448"/>
          </a:xfrm>
          <a:prstGeom prst="rect">
            <a:avLst/>
          </a:prstGeom>
          <a:noFill/>
        </p:spPr>
        <p:txBody>
          <a:bodyPr wrap="square" lIns="36576" tIns="0" rIns="36576" bIns="0">
            <a:spAutoFit/>
          </a:bodyPr>
          <a:lstStyle/>
          <a:p>
            <a:pPr algn="r" rtl="1">
              <a:spcAft>
                <a:spcPts val="600"/>
              </a:spcAft>
            </a:pPr>
            <a:r>
              <a:rPr lang="ar-JO" sz="2100" b="0">
                <a:solidFill>
                  <a:srgbClr val="F4F8FA"/>
                </a:solidFill>
                <a:latin typeface="Tahoma"/>
                <a:ea typeface="Tahoma"/>
                <a:cs typeface="Tahoma"/>
              </a:rPr>
              <a:t>حساب ودخول، فهم المدخل، رحلة بالقواعد، مصدر وحفظ، ورفض نقص الأدلة.</a:t>
            </a:r>
          </a:p>
        </p:txBody>
      </p:sp>
      <p:sp>
        <p:nvSpPr>
          <p:cNvPr id="9" name="Rounded Rectangle 8"/>
          <p:cNvSpPr/>
          <p:nvPr/>
        </p:nvSpPr>
        <p:spPr>
          <a:xfrm>
            <a:off x="4334256" y="2761488"/>
            <a:ext cx="3520439" cy="3209544"/>
          </a:xfrm>
          <a:prstGeom prst="roundRect">
            <a:avLst>
              <a:gd name="adj" fmla="val 7000"/>
            </a:avLst>
          </a:prstGeom>
          <a:solidFill>
            <a:srgbClr val="1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17136" y="2935224"/>
            <a:ext cx="3154679" cy="411480"/>
          </a:xfrm>
          <a:prstGeom prst="rect">
            <a:avLst/>
          </a:prstGeom>
          <a:noFill/>
        </p:spPr>
        <p:txBody>
          <a:bodyPr wrap="square" lIns="36576" tIns="0" rIns="36576" bIns="0">
            <a:spAutoFit/>
          </a:bodyPr>
          <a:lstStyle/>
          <a:p>
            <a:pPr algn="r" rtl="1">
              <a:spcAft>
                <a:spcPts val="600"/>
              </a:spcAft>
            </a:pPr>
            <a:r>
              <a:rPr lang="ar-JO" sz="2300" b="1">
                <a:solidFill>
                  <a:srgbClr val="66D7C4"/>
                </a:solidFill>
                <a:latin typeface="Tahoma"/>
                <a:ea typeface="Tahoma"/>
                <a:cs typeface="Tahoma"/>
              </a:rPr>
              <a:t>المتابعة · Should</a:t>
            </a:r>
          </a:p>
        </p:txBody>
      </p:sp>
      <p:sp>
        <p:nvSpPr>
          <p:cNvPr id="11" name="TextBox 10"/>
          <p:cNvSpPr txBox="1"/>
          <p:nvPr/>
        </p:nvSpPr>
        <p:spPr>
          <a:xfrm>
            <a:off x="4517136" y="3456432"/>
            <a:ext cx="3154679" cy="2441448"/>
          </a:xfrm>
          <a:prstGeom prst="rect">
            <a:avLst/>
          </a:prstGeom>
          <a:noFill/>
        </p:spPr>
        <p:txBody>
          <a:bodyPr wrap="square" lIns="36576" tIns="0" rIns="36576" bIns="0">
            <a:spAutoFit/>
          </a:bodyPr>
          <a:lstStyle/>
          <a:p>
            <a:pPr algn="r" rtl="1">
              <a:spcAft>
                <a:spcPts val="600"/>
              </a:spcAft>
            </a:pPr>
            <a:r>
              <a:rPr lang="ar-JO" sz="2100" b="0">
                <a:solidFill>
                  <a:srgbClr val="F4F8FA"/>
                </a:solidFill>
                <a:latin typeface="Tahoma"/>
                <a:ea typeface="Tahoma"/>
                <a:cs typeface="Tahoma"/>
              </a:rPr>
              <a:t>خطط للمجالات، سجل وقوائم، ملف ودعم ولوحة إدارة.</a:t>
            </a:r>
          </a:p>
        </p:txBody>
      </p:sp>
      <p:sp>
        <p:nvSpPr>
          <p:cNvPr id="12" name="Rounded Rectangle 11"/>
          <p:cNvSpPr/>
          <p:nvPr/>
        </p:nvSpPr>
        <p:spPr>
          <a:xfrm>
            <a:off x="594360" y="2761488"/>
            <a:ext cx="3520439" cy="3209544"/>
          </a:xfrm>
          <a:prstGeom prst="roundRect">
            <a:avLst>
              <a:gd name="adj" fmla="val 7000"/>
            </a:avLst>
          </a:prstGeom>
          <a:solidFill>
            <a:srgbClr val="1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7240" y="2935224"/>
            <a:ext cx="3154679" cy="411480"/>
          </a:xfrm>
          <a:prstGeom prst="rect">
            <a:avLst/>
          </a:prstGeom>
          <a:noFill/>
        </p:spPr>
        <p:txBody>
          <a:bodyPr wrap="square" lIns="36576" tIns="0" rIns="36576" bIns="0">
            <a:spAutoFit/>
          </a:bodyPr>
          <a:lstStyle/>
          <a:p>
            <a:pPr algn="r" rtl="1">
              <a:spcAft>
                <a:spcPts val="600"/>
              </a:spcAft>
            </a:pPr>
            <a:r>
              <a:rPr lang="ar-JO" sz="2300" b="1">
                <a:solidFill>
                  <a:srgbClr val="66D7C4"/>
                </a:solidFill>
                <a:latin typeface="Tahoma"/>
                <a:ea typeface="Tahoma"/>
                <a:cs typeface="Tahoma"/>
              </a:rPr>
              <a:t>حدود معلنة</a:t>
            </a:r>
          </a:p>
        </p:txBody>
      </p:sp>
      <p:sp>
        <p:nvSpPr>
          <p:cNvPr id="14" name="TextBox 13"/>
          <p:cNvSpPr txBox="1"/>
          <p:nvPr/>
        </p:nvSpPr>
        <p:spPr>
          <a:xfrm>
            <a:off x="777240" y="3456432"/>
            <a:ext cx="3154679" cy="2441448"/>
          </a:xfrm>
          <a:prstGeom prst="rect">
            <a:avLst/>
          </a:prstGeom>
          <a:noFill/>
        </p:spPr>
        <p:txBody>
          <a:bodyPr wrap="square" lIns="36576" tIns="0" rIns="36576" bIns="0">
            <a:spAutoFit/>
          </a:bodyPr>
          <a:lstStyle/>
          <a:p>
            <a:pPr algn="r" rtl="1">
              <a:spcAft>
                <a:spcPts val="600"/>
              </a:spcAft>
            </a:pPr>
            <a:r>
              <a:rPr lang="ar-JO" sz="2100" b="0">
                <a:solidFill>
                  <a:srgbClr val="F4F8FA"/>
                </a:solidFill>
                <a:latin typeface="Tahoma"/>
                <a:ea typeface="Tahoma"/>
                <a:cs typeface="Tahoma"/>
              </a:rPr>
              <a:t>المحتوى الرسمي مسودة؛ لا دفع أو تكامل حكومي أو بريد إنتاجي موصول.</a:t>
            </a:r>
          </a:p>
        </p:txBody>
      </p:sp>
      <p:sp>
        <p:nvSpPr>
          <p:cNvPr id="15" name="Rectangle 14"/>
          <p:cNvSpPr/>
          <p:nvPr/>
        </p:nvSpPr>
        <p:spPr>
          <a:xfrm>
            <a:off x="594360" y="6437376"/>
            <a:ext cx="11000232" cy="10972"/>
          </a:xfrm>
          <a:prstGeom prst="rect">
            <a:avLst/>
          </a:prstGeom>
          <a:solidFill>
            <a:srgbClr val="2941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212080" y="6547104"/>
            <a:ext cx="6355080" cy="210312"/>
          </a:xfrm>
          <a:prstGeom prst="rect">
            <a:avLst/>
          </a:prstGeom>
          <a:noFill/>
        </p:spPr>
        <p:txBody>
          <a:bodyPr wrap="square" lIns="36576" tIns="0" rIns="36576" bIns="0">
            <a:spAutoFit/>
          </a:bodyPr>
          <a:lstStyle/>
          <a:p>
            <a:pPr algn="r" rtl="1">
              <a:spcAft>
                <a:spcPts val="600"/>
              </a:spcAft>
            </a:pPr>
            <a:r>
              <a:rPr lang="ar-JO" sz="1000" b="0">
                <a:solidFill>
                  <a:srgbClr val="B9CCD8"/>
                </a:solidFill>
                <a:latin typeface="Tahoma"/>
                <a:ea typeface="Tahoma"/>
                <a:cs typeface="Tahoma"/>
              </a:rPr>
              <a:t>Mustanad Jo  |  MVP إرشادي · معايير 5–8</a:t>
            </a:r>
          </a:p>
        </p:txBody>
      </p:sp>
      <p:sp>
        <p:nvSpPr>
          <p:cNvPr id="17" name="TextBox 16"/>
          <p:cNvSpPr txBox="1"/>
          <p:nvPr/>
        </p:nvSpPr>
        <p:spPr>
          <a:xfrm>
            <a:off x="594360" y="6547104"/>
            <a:ext cx="1828800" cy="210312"/>
          </a:xfrm>
          <a:prstGeom prst="rect">
            <a:avLst/>
          </a:prstGeom>
          <a:noFill/>
        </p:spPr>
        <p:txBody>
          <a:bodyPr wrap="square" lIns="36576" tIns="0" rIns="36576" bIns="0">
            <a:spAutoFit/>
          </a:bodyPr>
          <a:lstStyle/>
          <a:p>
            <a:pPr algn="r" rtl="1">
              <a:spcAft>
                <a:spcPts val="600"/>
              </a:spcAft>
            </a:pPr>
            <a:r>
              <a:rPr lang="ar-JO" sz="1000" b="0">
                <a:solidFill>
                  <a:srgbClr val="B9CCD8"/>
                </a:solidFill>
                <a:latin typeface="Tahoma"/>
                <a:ea typeface="Tahoma"/>
                <a:cs typeface="Tahoma"/>
              </a:rPr>
              <a:t>الشريحة 4 من 17</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1926"/>
        </a:solidFill>
        <a:effectLst/>
      </p:bgPr>
    </p:bg>
    <p:spTree>
      <p:nvGrpSpPr>
        <p:cNvPr id="1" name=""/>
        <p:cNvGrpSpPr/>
        <p:nvPr/>
      </p:nvGrpSpPr>
      <p:grpSpPr>
        <a:xfrm>
          <a:off x="0" y="0"/>
          <a:ext cx="0" cy="0"/>
          <a:chOff x="0" y="0"/>
          <a:chExt cx="0" cy="0"/>
        </a:xfrm>
      </p:grpSpPr>
      <p:sp>
        <p:nvSpPr>
          <p:cNvPr id="2" name="Rectangle 1"/>
          <p:cNvSpPr/>
          <p:nvPr/>
        </p:nvSpPr>
        <p:spPr>
          <a:xfrm>
            <a:off x="11539728" y="484632"/>
            <a:ext cx="54864" cy="1417320"/>
          </a:xfrm>
          <a:prstGeom prst="rect">
            <a:avLst/>
          </a:prstGeom>
          <a:solidFill>
            <a:srgbClr val="66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57200"/>
            <a:ext cx="10881360" cy="365760"/>
          </a:xfrm>
          <a:prstGeom prst="rect">
            <a:avLst/>
          </a:prstGeom>
          <a:noFill/>
        </p:spPr>
        <p:txBody>
          <a:bodyPr wrap="square" lIns="36576" tIns="0" rIns="36576" bIns="0">
            <a:spAutoFit/>
          </a:bodyPr>
          <a:lstStyle/>
          <a:p>
            <a:pPr algn="r" rtl="1">
              <a:spcAft>
                <a:spcPts val="600"/>
              </a:spcAft>
            </a:pPr>
            <a:r>
              <a:rPr lang="ar-JO" sz="1500" b="0">
                <a:solidFill>
                  <a:srgbClr val="66D7C4"/>
                </a:solidFill>
                <a:latin typeface="Tahoma"/>
                <a:ea typeface="Tahoma"/>
                <a:cs typeface="Tahoma"/>
              </a:rPr>
              <a:t>7 · تجربة المستخدم</a:t>
            </a:r>
          </a:p>
        </p:txBody>
      </p:sp>
      <p:sp>
        <p:nvSpPr>
          <p:cNvPr id="4" name="TextBox 3"/>
          <p:cNvSpPr txBox="1"/>
          <p:nvPr/>
        </p:nvSpPr>
        <p:spPr>
          <a:xfrm>
            <a:off x="548640" y="932688"/>
            <a:ext cx="10881360" cy="640080"/>
          </a:xfrm>
          <a:prstGeom prst="rect">
            <a:avLst/>
          </a:prstGeom>
          <a:noFill/>
        </p:spPr>
        <p:txBody>
          <a:bodyPr wrap="square" lIns="36576" tIns="0" rIns="36576" bIns="0">
            <a:spAutoFit/>
          </a:bodyPr>
          <a:lstStyle/>
          <a:p>
            <a:pPr algn="r" rtl="1">
              <a:spcAft>
                <a:spcPts val="600"/>
              </a:spcAft>
            </a:pPr>
            <a:r>
              <a:rPr lang="ar-JO" sz="3400" b="1">
                <a:solidFill>
                  <a:srgbClr val="F4F8FA"/>
                </a:solidFill>
                <a:latin typeface="Tahoma"/>
                <a:ea typeface="Tahoma"/>
                <a:cs typeface="Tahoma"/>
              </a:rPr>
              <a:t>واجهة عربية ومتابعة واضحة</a:t>
            </a:r>
          </a:p>
        </p:txBody>
      </p:sp>
      <p:sp>
        <p:nvSpPr>
          <p:cNvPr id="5" name="TextBox 4"/>
          <p:cNvSpPr txBox="1"/>
          <p:nvPr/>
        </p:nvSpPr>
        <p:spPr>
          <a:xfrm>
            <a:off x="548640" y="1700784"/>
            <a:ext cx="10972800" cy="777240"/>
          </a:xfrm>
          <a:prstGeom prst="rect">
            <a:avLst/>
          </a:prstGeom>
          <a:noFill/>
        </p:spPr>
        <p:txBody>
          <a:bodyPr wrap="square" lIns="36576" tIns="0" rIns="36576" bIns="0">
            <a:spAutoFit/>
          </a:bodyPr>
          <a:lstStyle/>
          <a:p>
            <a:pPr algn="r" rtl="1">
              <a:spcAft>
                <a:spcPts val="600"/>
              </a:spcAft>
            </a:pPr>
            <a:r>
              <a:rPr lang="ar-JO" sz="2000" b="0">
                <a:solidFill>
                  <a:srgbClr val="B9CCD8"/>
                </a:solidFill>
                <a:latin typeface="Tahoma"/>
                <a:ea typeface="Tahoma"/>
                <a:cs typeface="Tahoma"/>
              </a:rPr>
              <a:t>RTL، هاتف وحاسوب، نهاري وليلي، ورسائل تعبّر عن الحالة الفعلية.</a:t>
            </a:r>
          </a:p>
        </p:txBody>
      </p:sp>
      <p:sp>
        <p:nvSpPr>
          <p:cNvPr id="6" name="Rounded Rectangle 5"/>
          <p:cNvSpPr/>
          <p:nvPr/>
        </p:nvSpPr>
        <p:spPr>
          <a:xfrm>
            <a:off x="594360" y="2651760"/>
            <a:ext cx="4937760" cy="3593592"/>
          </a:xfrm>
          <a:prstGeom prst="roundRect">
            <a:avLst>
              <a:gd name="adj" fmla="val 7000"/>
            </a:avLst>
          </a:prstGeom>
          <a:solidFill>
            <a:srgbClr val="1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login-mobile.png"/>
          <p:cNvPicPr>
            <a:picLocks noChangeAspect="1"/>
          </p:cNvPicPr>
          <p:nvPr/>
        </p:nvPicPr>
        <p:blipFill>
          <a:blip r:embed="rId3"/>
          <a:stretch>
            <a:fillRect/>
          </a:stretch>
        </p:blipFill>
        <p:spPr>
          <a:xfrm>
            <a:off x="1139316" y="2816352"/>
            <a:ext cx="1470407" cy="3182111"/>
          </a:xfrm>
          <a:prstGeom prst="rect">
            <a:avLst/>
          </a:prstGeom>
        </p:spPr>
      </p:pic>
      <p:pic>
        <p:nvPicPr>
          <p:cNvPr id="8" name="Picture 7" descr="register-mobile.png"/>
          <p:cNvPicPr>
            <a:picLocks noChangeAspect="1"/>
          </p:cNvPicPr>
          <p:nvPr/>
        </p:nvPicPr>
        <p:blipFill>
          <a:blip r:embed="rId4"/>
          <a:stretch>
            <a:fillRect/>
          </a:stretch>
        </p:blipFill>
        <p:spPr>
          <a:xfrm>
            <a:off x="3355590" y="2816352"/>
            <a:ext cx="1792739" cy="3182112"/>
          </a:xfrm>
          <a:prstGeom prst="rect">
            <a:avLst/>
          </a:prstGeom>
        </p:spPr>
      </p:pic>
      <p:sp>
        <p:nvSpPr>
          <p:cNvPr id="9" name="TextBox 8"/>
          <p:cNvSpPr txBox="1"/>
          <p:nvPr/>
        </p:nvSpPr>
        <p:spPr>
          <a:xfrm>
            <a:off x="777240" y="5980176"/>
            <a:ext cx="4572000" cy="219456"/>
          </a:xfrm>
          <a:prstGeom prst="rect">
            <a:avLst/>
          </a:prstGeom>
          <a:noFill/>
        </p:spPr>
        <p:txBody>
          <a:bodyPr wrap="square" lIns="36576" tIns="0" rIns="36576" bIns="0">
            <a:spAutoFit/>
          </a:bodyPr>
          <a:lstStyle/>
          <a:p>
            <a:pPr algn="r" rtl="1">
              <a:spcAft>
                <a:spcPts val="600"/>
              </a:spcAft>
            </a:pPr>
            <a:r>
              <a:rPr lang="ar-JO" sz="1000" b="0">
                <a:solidFill>
                  <a:srgbClr val="B9CCD8"/>
                </a:solidFill>
                <a:latin typeface="Tahoma"/>
                <a:ea typeface="Tahoma"/>
                <a:cs typeface="Tahoma"/>
              </a:rPr>
              <a:t>لقطات فعلية من مراجعة واجهة المشروع</a:t>
            </a:r>
          </a:p>
        </p:txBody>
      </p:sp>
      <p:sp>
        <p:nvSpPr>
          <p:cNvPr id="10" name="Rounded Rectangle 9"/>
          <p:cNvSpPr/>
          <p:nvPr/>
        </p:nvSpPr>
        <p:spPr>
          <a:xfrm>
            <a:off x="5943600" y="2651760"/>
            <a:ext cx="5669280" cy="1723644"/>
          </a:xfrm>
          <a:prstGeom prst="roundRect">
            <a:avLst>
              <a:gd name="adj" fmla="val 7000"/>
            </a:avLst>
          </a:prstGeom>
          <a:solidFill>
            <a:srgbClr val="1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126480" y="2825496"/>
            <a:ext cx="5303520" cy="411480"/>
          </a:xfrm>
          <a:prstGeom prst="rect">
            <a:avLst/>
          </a:prstGeom>
          <a:noFill/>
        </p:spPr>
        <p:txBody>
          <a:bodyPr wrap="square" lIns="36576" tIns="0" rIns="36576" bIns="0">
            <a:spAutoFit/>
          </a:bodyPr>
          <a:lstStyle/>
          <a:p>
            <a:pPr algn="r" rtl="1">
              <a:spcAft>
                <a:spcPts val="600"/>
              </a:spcAft>
            </a:pPr>
            <a:r>
              <a:rPr lang="ar-JO" sz="1900" b="1">
                <a:solidFill>
                  <a:srgbClr val="66D7C4"/>
                </a:solidFill>
                <a:latin typeface="Tahoma"/>
                <a:ea typeface="Tahoma"/>
                <a:cs typeface="Tahoma"/>
              </a:rPr>
              <a:t>دخول وإنشاء حساب</a:t>
            </a:r>
          </a:p>
        </p:txBody>
      </p:sp>
      <p:sp>
        <p:nvSpPr>
          <p:cNvPr id="12" name="TextBox 11"/>
          <p:cNvSpPr txBox="1"/>
          <p:nvPr/>
        </p:nvSpPr>
        <p:spPr>
          <a:xfrm>
            <a:off x="6126480" y="3346704"/>
            <a:ext cx="5303520" cy="955547"/>
          </a:xfrm>
          <a:prstGeom prst="rect">
            <a:avLst/>
          </a:prstGeom>
          <a:noFill/>
        </p:spPr>
        <p:txBody>
          <a:bodyPr wrap="square" lIns="36576" tIns="0" rIns="36576" bIns="0">
            <a:spAutoFit/>
          </a:bodyPr>
          <a:lstStyle/>
          <a:p>
            <a:pPr algn="r" rtl="1">
              <a:spcAft>
                <a:spcPts val="600"/>
              </a:spcAft>
            </a:pPr>
            <a:r>
              <a:rPr lang="ar-JO" sz="1600" b="0">
                <a:solidFill>
                  <a:srgbClr val="F4F8FA"/>
                </a:solidFill>
                <a:latin typeface="Tahoma"/>
                <a:ea typeface="Tahoma"/>
                <a:cs typeface="Tahoma"/>
              </a:rPr>
              <a:t>نماذج مدمجة ضمن الشاشة في المقاسات المختبرة، وحقول واضحة.</a:t>
            </a:r>
          </a:p>
        </p:txBody>
      </p:sp>
      <p:sp>
        <p:nvSpPr>
          <p:cNvPr id="13" name="Rounded Rectangle 12"/>
          <p:cNvSpPr/>
          <p:nvPr/>
        </p:nvSpPr>
        <p:spPr>
          <a:xfrm>
            <a:off x="5943600" y="4539996"/>
            <a:ext cx="5669280" cy="1723644"/>
          </a:xfrm>
          <a:prstGeom prst="roundRect">
            <a:avLst>
              <a:gd name="adj" fmla="val 7000"/>
            </a:avLst>
          </a:prstGeom>
          <a:solidFill>
            <a:srgbClr val="1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126480" y="4713732"/>
            <a:ext cx="5303520" cy="411480"/>
          </a:xfrm>
          <a:prstGeom prst="rect">
            <a:avLst/>
          </a:prstGeom>
          <a:noFill/>
        </p:spPr>
        <p:txBody>
          <a:bodyPr wrap="square" lIns="36576" tIns="0" rIns="36576" bIns="0">
            <a:spAutoFit/>
          </a:bodyPr>
          <a:lstStyle/>
          <a:p>
            <a:pPr algn="r" rtl="1">
              <a:spcAft>
                <a:spcPts val="600"/>
              </a:spcAft>
            </a:pPr>
            <a:r>
              <a:rPr lang="ar-JO" sz="1900" b="1">
                <a:solidFill>
                  <a:srgbClr val="66D7C4"/>
                </a:solidFill>
                <a:latin typeface="Tahoma"/>
                <a:ea typeface="Tahoma"/>
                <a:cs typeface="Tahoma"/>
              </a:rPr>
              <a:t>ثقة وتحكم</a:t>
            </a:r>
          </a:p>
        </p:txBody>
      </p:sp>
      <p:sp>
        <p:nvSpPr>
          <p:cNvPr id="15" name="TextBox 14"/>
          <p:cNvSpPr txBox="1"/>
          <p:nvPr/>
        </p:nvSpPr>
        <p:spPr>
          <a:xfrm>
            <a:off x="6126480" y="5234940"/>
            <a:ext cx="5303520" cy="955547"/>
          </a:xfrm>
          <a:prstGeom prst="rect">
            <a:avLst/>
          </a:prstGeom>
          <a:noFill/>
        </p:spPr>
        <p:txBody>
          <a:bodyPr wrap="square" lIns="36576" tIns="0" rIns="36576" bIns="0">
            <a:spAutoFit/>
          </a:bodyPr>
          <a:lstStyle/>
          <a:p>
            <a:pPr algn="r" rtl="1">
              <a:spcAft>
                <a:spcPts val="600"/>
              </a:spcAft>
            </a:pPr>
            <a:r>
              <a:rPr lang="ar-JO" sz="1600" b="0">
                <a:solidFill>
                  <a:srgbClr val="F4F8FA"/>
                </a:solidFill>
                <a:latin typeface="Tahoma"/>
                <a:ea typeface="Tahoma"/>
                <a:cs typeface="Tahoma"/>
              </a:rPr>
              <a:t>مصدر وحالة مراجعة، انتظار وإلغاء، حفظ تفضيل المظهر ومركز دعم.</a:t>
            </a:r>
          </a:p>
        </p:txBody>
      </p:sp>
      <p:sp>
        <p:nvSpPr>
          <p:cNvPr id="16" name="Rectangle 15"/>
          <p:cNvSpPr/>
          <p:nvPr/>
        </p:nvSpPr>
        <p:spPr>
          <a:xfrm>
            <a:off x="594360" y="6437376"/>
            <a:ext cx="11000232" cy="10972"/>
          </a:xfrm>
          <a:prstGeom prst="rect">
            <a:avLst/>
          </a:prstGeom>
          <a:solidFill>
            <a:srgbClr val="2941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212080" y="6547104"/>
            <a:ext cx="6355080" cy="210312"/>
          </a:xfrm>
          <a:prstGeom prst="rect">
            <a:avLst/>
          </a:prstGeom>
          <a:noFill/>
        </p:spPr>
        <p:txBody>
          <a:bodyPr wrap="square" lIns="36576" tIns="0" rIns="36576" bIns="0">
            <a:spAutoFit/>
          </a:bodyPr>
          <a:lstStyle/>
          <a:p>
            <a:pPr algn="r" rtl="1">
              <a:spcAft>
                <a:spcPts val="600"/>
              </a:spcAft>
            </a:pPr>
            <a:r>
              <a:rPr lang="ar-JO" sz="1000" b="0">
                <a:solidFill>
                  <a:srgbClr val="B9CCD8"/>
                </a:solidFill>
                <a:latin typeface="Tahoma"/>
                <a:ea typeface="Tahoma"/>
                <a:cs typeface="Tahoma"/>
              </a:rPr>
              <a:t>Mustanad Jo  |  MVP إرشادي · معايير 5–8</a:t>
            </a:r>
          </a:p>
        </p:txBody>
      </p:sp>
      <p:sp>
        <p:nvSpPr>
          <p:cNvPr id="18" name="TextBox 17"/>
          <p:cNvSpPr txBox="1"/>
          <p:nvPr/>
        </p:nvSpPr>
        <p:spPr>
          <a:xfrm>
            <a:off x="594360" y="6547104"/>
            <a:ext cx="1828800" cy="210312"/>
          </a:xfrm>
          <a:prstGeom prst="rect">
            <a:avLst/>
          </a:prstGeom>
          <a:noFill/>
        </p:spPr>
        <p:txBody>
          <a:bodyPr wrap="square" lIns="36576" tIns="0" rIns="36576" bIns="0">
            <a:spAutoFit/>
          </a:bodyPr>
          <a:lstStyle/>
          <a:p>
            <a:pPr algn="r" rtl="1">
              <a:spcAft>
                <a:spcPts val="600"/>
              </a:spcAft>
            </a:pPr>
            <a:r>
              <a:rPr lang="ar-JO" sz="1000" b="0">
                <a:solidFill>
                  <a:srgbClr val="B9CCD8"/>
                </a:solidFill>
                <a:latin typeface="Tahoma"/>
                <a:ea typeface="Tahoma"/>
                <a:cs typeface="Tahoma"/>
              </a:rPr>
              <a:t>الشريحة 5 من 17</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1926"/>
        </a:solidFill>
        <a:effectLst/>
      </p:bgPr>
    </p:bg>
    <p:spTree>
      <p:nvGrpSpPr>
        <p:cNvPr id="1" name=""/>
        <p:cNvGrpSpPr/>
        <p:nvPr/>
      </p:nvGrpSpPr>
      <p:grpSpPr>
        <a:xfrm>
          <a:off x="0" y="0"/>
          <a:ext cx="0" cy="0"/>
          <a:chOff x="0" y="0"/>
          <a:chExt cx="0" cy="0"/>
        </a:xfrm>
      </p:grpSpPr>
      <p:sp>
        <p:nvSpPr>
          <p:cNvPr id="2" name="Rectangle 1"/>
          <p:cNvSpPr/>
          <p:nvPr/>
        </p:nvSpPr>
        <p:spPr>
          <a:xfrm>
            <a:off x="11539728" y="484632"/>
            <a:ext cx="54864" cy="1417320"/>
          </a:xfrm>
          <a:prstGeom prst="rect">
            <a:avLst/>
          </a:prstGeom>
          <a:solidFill>
            <a:srgbClr val="66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57200"/>
            <a:ext cx="10881360" cy="365760"/>
          </a:xfrm>
          <a:prstGeom prst="rect">
            <a:avLst/>
          </a:prstGeom>
          <a:noFill/>
        </p:spPr>
        <p:txBody>
          <a:bodyPr wrap="square" lIns="36576" tIns="0" rIns="36576" bIns="0">
            <a:spAutoFit/>
          </a:bodyPr>
          <a:lstStyle/>
          <a:p>
            <a:pPr algn="r" rtl="1">
              <a:spcAft>
                <a:spcPts val="600"/>
              </a:spcAft>
            </a:pPr>
            <a:r>
              <a:rPr lang="ar-JO" sz="1500" b="0">
                <a:solidFill>
                  <a:srgbClr val="66D7C4"/>
                </a:solidFill>
                <a:latin typeface="Tahoma"/>
                <a:ea typeface="Tahoma"/>
                <a:cs typeface="Tahoma"/>
              </a:rPr>
              <a:t>5D / 7 · رحلة المستخدم</a:t>
            </a:r>
          </a:p>
        </p:txBody>
      </p:sp>
      <p:sp>
        <p:nvSpPr>
          <p:cNvPr id="4" name="TextBox 3"/>
          <p:cNvSpPr txBox="1"/>
          <p:nvPr/>
        </p:nvSpPr>
        <p:spPr>
          <a:xfrm>
            <a:off x="548640" y="932688"/>
            <a:ext cx="10881360" cy="640080"/>
          </a:xfrm>
          <a:prstGeom prst="rect">
            <a:avLst/>
          </a:prstGeom>
          <a:noFill/>
        </p:spPr>
        <p:txBody>
          <a:bodyPr wrap="square" lIns="36576" tIns="0" rIns="36576" bIns="0">
            <a:spAutoFit/>
          </a:bodyPr>
          <a:lstStyle/>
          <a:p>
            <a:pPr algn="r" rtl="1">
              <a:spcAft>
                <a:spcPts val="600"/>
              </a:spcAft>
            </a:pPr>
            <a:r>
              <a:rPr lang="ar-JO" sz="3400" b="1">
                <a:solidFill>
                  <a:srgbClr val="F4F8FA"/>
                </a:solidFill>
                <a:latin typeface="Tahoma"/>
                <a:ea typeface="Tahoma"/>
                <a:cs typeface="Tahoma"/>
              </a:rPr>
              <a:t>من الطلب إلى المتابعة</a:t>
            </a:r>
          </a:p>
        </p:txBody>
      </p:sp>
      <p:sp>
        <p:nvSpPr>
          <p:cNvPr id="5" name="TextBox 4"/>
          <p:cNvSpPr txBox="1"/>
          <p:nvPr/>
        </p:nvSpPr>
        <p:spPr>
          <a:xfrm>
            <a:off x="548640" y="1700784"/>
            <a:ext cx="10972800" cy="777240"/>
          </a:xfrm>
          <a:prstGeom prst="rect">
            <a:avLst/>
          </a:prstGeom>
          <a:noFill/>
        </p:spPr>
        <p:txBody>
          <a:bodyPr wrap="square" lIns="36576" tIns="0" rIns="36576" bIns="0">
            <a:spAutoFit/>
          </a:bodyPr>
          <a:lstStyle/>
          <a:p>
            <a:pPr algn="r" rtl="1">
              <a:spcAft>
                <a:spcPts val="600"/>
              </a:spcAft>
            </a:pPr>
            <a:r>
              <a:rPr lang="ar-JO" sz="2000" b="0">
                <a:solidFill>
                  <a:srgbClr val="B9CCD8"/>
                </a:solidFill>
                <a:latin typeface="Tahoma"/>
                <a:ea typeface="Tahoma"/>
                <a:cs typeface="Tahoma"/>
              </a:rPr>
              <a:t>مثال: «بدي أفتح محل ملابس بعمان».</a:t>
            </a:r>
          </a:p>
        </p:txBody>
      </p:sp>
      <p:sp>
        <p:nvSpPr>
          <p:cNvPr id="6" name="Rounded Rectangle 5"/>
          <p:cNvSpPr/>
          <p:nvPr/>
        </p:nvSpPr>
        <p:spPr>
          <a:xfrm>
            <a:off x="594360" y="2651760"/>
            <a:ext cx="4937760" cy="3593592"/>
          </a:xfrm>
          <a:prstGeom prst="roundRect">
            <a:avLst>
              <a:gd name="adj" fmla="val 7000"/>
            </a:avLst>
          </a:prstGeom>
          <a:solidFill>
            <a:srgbClr val="1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journey-mobile-dark.png"/>
          <p:cNvPicPr>
            <a:picLocks noChangeAspect="1"/>
          </p:cNvPicPr>
          <p:nvPr/>
        </p:nvPicPr>
        <p:blipFill>
          <a:blip r:embed="rId3"/>
          <a:stretch>
            <a:fillRect/>
          </a:stretch>
        </p:blipFill>
        <p:spPr>
          <a:xfrm>
            <a:off x="2373782" y="2816352"/>
            <a:ext cx="1378915" cy="3182112"/>
          </a:xfrm>
          <a:prstGeom prst="rect">
            <a:avLst/>
          </a:prstGeom>
        </p:spPr>
      </p:pic>
      <p:sp>
        <p:nvSpPr>
          <p:cNvPr id="8" name="TextBox 7"/>
          <p:cNvSpPr txBox="1"/>
          <p:nvPr/>
        </p:nvSpPr>
        <p:spPr>
          <a:xfrm>
            <a:off x="777240" y="5980176"/>
            <a:ext cx="4572000" cy="219456"/>
          </a:xfrm>
          <a:prstGeom prst="rect">
            <a:avLst/>
          </a:prstGeom>
          <a:noFill/>
        </p:spPr>
        <p:txBody>
          <a:bodyPr wrap="square" lIns="36576" tIns="0" rIns="36576" bIns="0">
            <a:spAutoFit/>
          </a:bodyPr>
          <a:lstStyle/>
          <a:p>
            <a:pPr algn="r" rtl="1">
              <a:spcAft>
                <a:spcPts val="600"/>
              </a:spcAft>
            </a:pPr>
            <a:r>
              <a:rPr lang="ar-JO" sz="1000" b="0">
                <a:solidFill>
                  <a:srgbClr val="B9CCD8"/>
                </a:solidFill>
                <a:latin typeface="Tahoma"/>
                <a:ea typeface="Tahoma"/>
                <a:cs typeface="Tahoma"/>
              </a:rPr>
              <a:t>لقطات فعلية من مراجعة واجهة المشروع</a:t>
            </a:r>
          </a:p>
        </p:txBody>
      </p:sp>
      <p:sp>
        <p:nvSpPr>
          <p:cNvPr id="9" name="Rounded Rectangle 8"/>
          <p:cNvSpPr/>
          <p:nvPr/>
        </p:nvSpPr>
        <p:spPr>
          <a:xfrm>
            <a:off x="5943600" y="2651760"/>
            <a:ext cx="5669280" cy="1094232"/>
          </a:xfrm>
          <a:prstGeom prst="roundRect">
            <a:avLst>
              <a:gd name="adj" fmla="val 7000"/>
            </a:avLst>
          </a:prstGeom>
          <a:solidFill>
            <a:srgbClr val="1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126480" y="2825496"/>
            <a:ext cx="5303520" cy="411480"/>
          </a:xfrm>
          <a:prstGeom prst="rect">
            <a:avLst/>
          </a:prstGeom>
          <a:noFill/>
        </p:spPr>
        <p:txBody>
          <a:bodyPr wrap="square" lIns="36576" tIns="0" rIns="36576" bIns="0">
            <a:spAutoFit/>
          </a:bodyPr>
          <a:lstStyle/>
          <a:p>
            <a:pPr algn="r" rtl="1">
              <a:spcAft>
                <a:spcPts val="600"/>
              </a:spcAft>
            </a:pPr>
            <a:r>
              <a:rPr lang="ar-JO" sz="1700" b="1">
                <a:solidFill>
                  <a:srgbClr val="66D7C4"/>
                </a:solidFill>
                <a:latin typeface="Tahoma"/>
                <a:ea typeface="Tahoma"/>
                <a:cs typeface="Tahoma"/>
              </a:rPr>
              <a:t>1 · وصف وتوضيح</a:t>
            </a:r>
          </a:p>
        </p:txBody>
      </p:sp>
      <p:sp>
        <p:nvSpPr>
          <p:cNvPr id="11" name="TextBox 10"/>
          <p:cNvSpPr txBox="1"/>
          <p:nvPr/>
        </p:nvSpPr>
        <p:spPr>
          <a:xfrm>
            <a:off x="6126480" y="3163824"/>
            <a:ext cx="5303520" cy="509016"/>
          </a:xfrm>
          <a:prstGeom prst="rect">
            <a:avLst/>
          </a:prstGeom>
          <a:noFill/>
        </p:spPr>
        <p:txBody>
          <a:bodyPr wrap="square" lIns="36576" tIns="0" rIns="36576" bIns="0">
            <a:spAutoFit/>
          </a:bodyPr>
          <a:lstStyle/>
          <a:p>
            <a:pPr algn="r" rtl="1">
              <a:spcAft>
                <a:spcPts val="600"/>
              </a:spcAft>
            </a:pPr>
            <a:r>
              <a:rPr lang="ar-JO" sz="1500" b="0">
                <a:solidFill>
                  <a:srgbClr val="F4F8FA"/>
                </a:solidFill>
                <a:latin typeface="Tahoma"/>
                <a:ea typeface="Tahoma"/>
                <a:cs typeface="Tahoma"/>
              </a:rPr>
              <a:t>نفصل السؤال عن المشروع، ونطلب الشكل القانوني وحالة الموقع عند نقصهما.</a:t>
            </a:r>
          </a:p>
        </p:txBody>
      </p:sp>
      <p:sp>
        <p:nvSpPr>
          <p:cNvPr id="12" name="Rounded Rectangle 11"/>
          <p:cNvSpPr/>
          <p:nvPr/>
        </p:nvSpPr>
        <p:spPr>
          <a:xfrm>
            <a:off x="5943600" y="3910583"/>
            <a:ext cx="5669280" cy="1094232"/>
          </a:xfrm>
          <a:prstGeom prst="roundRect">
            <a:avLst>
              <a:gd name="adj" fmla="val 7000"/>
            </a:avLst>
          </a:prstGeom>
          <a:solidFill>
            <a:srgbClr val="1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126480" y="4084320"/>
            <a:ext cx="5303520" cy="411480"/>
          </a:xfrm>
          <a:prstGeom prst="rect">
            <a:avLst/>
          </a:prstGeom>
          <a:noFill/>
        </p:spPr>
        <p:txBody>
          <a:bodyPr wrap="square" lIns="36576" tIns="0" rIns="36576" bIns="0">
            <a:spAutoFit/>
          </a:bodyPr>
          <a:lstStyle/>
          <a:p>
            <a:pPr algn="r" rtl="1">
              <a:spcAft>
                <a:spcPts val="600"/>
              </a:spcAft>
            </a:pPr>
            <a:r>
              <a:rPr lang="ar-JO" sz="1700" b="1">
                <a:solidFill>
                  <a:srgbClr val="66D7C4"/>
                </a:solidFill>
                <a:latin typeface="Tahoma"/>
                <a:ea typeface="Tahoma"/>
                <a:cs typeface="Tahoma"/>
              </a:rPr>
              <a:t>2 · خطوات وأدلة</a:t>
            </a:r>
          </a:p>
        </p:txBody>
      </p:sp>
      <p:sp>
        <p:nvSpPr>
          <p:cNvPr id="14" name="TextBox 13"/>
          <p:cNvSpPr txBox="1"/>
          <p:nvPr/>
        </p:nvSpPr>
        <p:spPr>
          <a:xfrm>
            <a:off x="6126480" y="4422647"/>
            <a:ext cx="5303520" cy="509016"/>
          </a:xfrm>
          <a:prstGeom prst="rect">
            <a:avLst/>
          </a:prstGeom>
          <a:noFill/>
        </p:spPr>
        <p:txBody>
          <a:bodyPr wrap="square" lIns="36576" tIns="0" rIns="36576" bIns="0">
            <a:spAutoFit/>
          </a:bodyPr>
          <a:lstStyle/>
          <a:p>
            <a:pPr algn="r" rtl="1">
              <a:spcAft>
                <a:spcPts val="600"/>
              </a:spcAft>
            </a:pPr>
            <a:r>
              <a:rPr lang="ar-JO" sz="1500" b="0">
                <a:solidFill>
                  <a:srgbClr val="F4F8FA"/>
                </a:solidFill>
                <a:latin typeface="Tahoma"/>
                <a:ea typeface="Tahoma"/>
                <a:cs typeface="Tahoma"/>
              </a:rPr>
              <a:t>رحلة بالقواعد، تفرع مستأجر/مملوك، ومقاطع مصادر بحالة مراجعتها.</a:t>
            </a:r>
          </a:p>
        </p:txBody>
      </p:sp>
      <p:sp>
        <p:nvSpPr>
          <p:cNvPr id="15" name="Rounded Rectangle 14"/>
          <p:cNvSpPr/>
          <p:nvPr/>
        </p:nvSpPr>
        <p:spPr>
          <a:xfrm>
            <a:off x="5943600" y="5169408"/>
            <a:ext cx="5669280" cy="1094232"/>
          </a:xfrm>
          <a:prstGeom prst="roundRect">
            <a:avLst>
              <a:gd name="adj" fmla="val 7000"/>
            </a:avLst>
          </a:prstGeom>
          <a:solidFill>
            <a:srgbClr val="1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126480" y="5343144"/>
            <a:ext cx="5303520" cy="411480"/>
          </a:xfrm>
          <a:prstGeom prst="rect">
            <a:avLst/>
          </a:prstGeom>
          <a:noFill/>
        </p:spPr>
        <p:txBody>
          <a:bodyPr wrap="square" lIns="36576" tIns="0" rIns="36576" bIns="0">
            <a:spAutoFit/>
          </a:bodyPr>
          <a:lstStyle/>
          <a:p>
            <a:pPr algn="r" rtl="1">
              <a:spcAft>
                <a:spcPts val="600"/>
              </a:spcAft>
            </a:pPr>
            <a:r>
              <a:rPr lang="ar-JO" sz="1700" b="1">
                <a:solidFill>
                  <a:srgbClr val="66D7C4"/>
                </a:solidFill>
                <a:latin typeface="Tahoma"/>
                <a:ea typeface="Tahoma"/>
                <a:cs typeface="Tahoma"/>
              </a:rPr>
              <a:t>3 · متابعة محفوظة</a:t>
            </a:r>
          </a:p>
        </p:txBody>
      </p:sp>
      <p:sp>
        <p:nvSpPr>
          <p:cNvPr id="17" name="TextBox 16"/>
          <p:cNvSpPr txBox="1"/>
          <p:nvPr/>
        </p:nvSpPr>
        <p:spPr>
          <a:xfrm>
            <a:off x="6126480" y="5681472"/>
            <a:ext cx="5303520" cy="509016"/>
          </a:xfrm>
          <a:prstGeom prst="rect">
            <a:avLst/>
          </a:prstGeom>
          <a:noFill/>
        </p:spPr>
        <p:txBody>
          <a:bodyPr wrap="square" lIns="36576" tIns="0" rIns="36576" bIns="0">
            <a:spAutoFit/>
          </a:bodyPr>
          <a:lstStyle/>
          <a:p>
            <a:pPr algn="r" rtl="1">
              <a:spcAft>
                <a:spcPts val="600"/>
              </a:spcAft>
            </a:pPr>
            <a:r>
              <a:rPr lang="ar-JO" sz="1500" b="0">
                <a:solidFill>
                  <a:srgbClr val="F4F8FA"/>
                </a:solidFill>
                <a:latin typeface="Tahoma"/>
                <a:ea typeface="Tahoma"/>
                <a:cs typeface="Tahoma"/>
              </a:rPr>
              <a:t>قائمة تجهيز وسجل واحد للتدفق، وطلب دعم عند وجود مشكلة.</a:t>
            </a:r>
          </a:p>
        </p:txBody>
      </p:sp>
      <p:sp>
        <p:nvSpPr>
          <p:cNvPr id="18" name="Rectangle 17"/>
          <p:cNvSpPr/>
          <p:nvPr/>
        </p:nvSpPr>
        <p:spPr>
          <a:xfrm>
            <a:off x="594360" y="6437376"/>
            <a:ext cx="11000232" cy="10972"/>
          </a:xfrm>
          <a:prstGeom prst="rect">
            <a:avLst/>
          </a:prstGeom>
          <a:solidFill>
            <a:srgbClr val="2941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212080" y="6547104"/>
            <a:ext cx="6355080" cy="210312"/>
          </a:xfrm>
          <a:prstGeom prst="rect">
            <a:avLst/>
          </a:prstGeom>
          <a:noFill/>
        </p:spPr>
        <p:txBody>
          <a:bodyPr wrap="square" lIns="36576" tIns="0" rIns="36576" bIns="0">
            <a:spAutoFit/>
          </a:bodyPr>
          <a:lstStyle/>
          <a:p>
            <a:pPr algn="r" rtl="1">
              <a:spcAft>
                <a:spcPts val="600"/>
              </a:spcAft>
            </a:pPr>
            <a:r>
              <a:rPr lang="ar-JO" sz="1000" b="0">
                <a:solidFill>
                  <a:srgbClr val="B9CCD8"/>
                </a:solidFill>
                <a:latin typeface="Tahoma"/>
                <a:ea typeface="Tahoma"/>
                <a:cs typeface="Tahoma"/>
              </a:rPr>
              <a:t>Mustanad Jo  |  MVP إرشادي · معايير 5–8</a:t>
            </a:r>
          </a:p>
        </p:txBody>
      </p:sp>
      <p:sp>
        <p:nvSpPr>
          <p:cNvPr id="20" name="TextBox 19"/>
          <p:cNvSpPr txBox="1"/>
          <p:nvPr/>
        </p:nvSpPr>
        <p:spPr>
          <a:xfrm>
            <a:off x="594360" y="6547104"/>
            <a:ext cx="1828800" cy="210312"/>
          </a:xfrm>
          <a:prstGeom prst="rect">
            <a:avLst/>
          </a:prstGeom>
          <a:noFill/>
        </p:spPr>
        <p:txBody>
          <a:bodyPr wrap="square" lIns="36576" tIns="0" rIns="36576" bIns="0">
            <a:spAutoFit/>
          </a:bodyPr>
          <a:lstStyle/>
          <a:p>
            <a:pPr algn="r" rtl="1">
              <a:spcAft>
                <a:spcPts val="600"/>
              </a:spcAft>
            </a:pPr>
            <a:r>
              <a:rPr lang="ar-JO" sz="1000" b="0">
                <a:solidFill>
                  <a:srgbClr val="B9CCD8"/>
                </a:solidFill>
                <a:latin typeface="Tahoma"/>
                <a:ea typeface="Tahoma"/>
                <a:cs typeface="Tahoma"/>
              </a:rPr>
              <a:t>الشريحة 6 من 17</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1926"/>
        </a:solidFill>
        <a:effectLst/>
      </p:bgPr>
    </p:bg>
    <p:spTree>
      <p:nvGrpSpPr>
        <p:cNvPr id="1" name=""/>
        <p:cNvGrpSpPr/>
        <p:nvPr/>
      </p:nvGrpSpPr>
      <p:grpSpPr>
        <a:xfrm>
          <a:off x="0" y="0"/>
          <a:ext cx="0" cy="0"/>
          <a:chOff x="0" y="0"/>
          <a:chExt cx="0" cy="0"/>
        </a:xfrm>
      </p:grpSpPr>
      <p:sp>
        <p:nvSpPr>
          <p:cNvPr id="2" name="Rectangle 1"/>
          <p:cNvSpPr/>
          <p:nvPr/>
        </p:nvSpPr>
        <p:spPr>
          <a:xfrm>
            <a:off x="11539728" y="484632"/>
            <a:ext cx="54864" cy="1417320"/>
          </a:xfrm>
          <a:prstGeom prst="rect">
            <a:avLst/>
          </a:prstGeom>
          <a:solidFill>
            <a:srgbClr val="66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57200"/>
            <a:ext cx="10881360" cy="365760"/>
          </a:xfrm>
          <a:prstGeom prst="rect">
            <a:avLst/>
          </a:prstGeom>
          <a:noFill/>
        </p:spPr>
        <p:txBody>
          <a:bodyPr wrap="square" lIns="36576" tIns="0" rIns="36576" bIns="0">
            <a:spAutoFit/>
          </a:bodyPr>
          <a:lstStyle/>
          <a:p>
            <a:pPr algn="r" rtl="1">
              <a:spcAft>
                <a:spcPts val="600"/>
              </a:spcAft>
            </a:pPr>
            <a:r>
              <a:rPr lang="ar-JO" sz="1500" b="0">
                <a:solidFill>
                  <a:srgbClr val="66D7C4"/>
                </a:solidFill>
                <a:latin typeface="Tahoma"/>
                <a:ea typeface="Tahoma"/>
                <a:cs typeface="Tahoma"/>
              </a:rPr>
              <a:t>5D / 7 · الديمو المقترح</a:t>
            </a:r>
          </a:p>
        </p:txBody>
      </p:sp>
      <p:sp>
        <p:nvSpPr>
          <p:cNvPr id="4" name="TextBox 3"/>
          <p:cNvSpPr txBox="1"/>
          <p:nvPr/>
        </p:nvSpPr>
        <p:spPr>
          <a:xfrm>
            <a:off x="548640" y="932688"/>
            <a:ext cx="10881360" cy="640080"/>
          </a:xfrm>
          <a:prstGeom prst="rect">
            <a:avLst/>
          </a:prstGeom>
          <a:noFill/>
        </p:spPr>
        <p:txBody>
          <a:bodyPr wrap="square" lIns="36576" tIns="0" rIns="36576" bIns="0">
            <a:spAutoFit/>
          </a:bodyPr>
          <a:lstStyle/>
          <a:p>
            <a:pPr algn="r" rtl="1">
              <a:spcAft>
                <a:spcPts val="600"/>
              </a:spcAft>
            </a:pPr>
            <a:r>
              <a:rPr lang="ar-JO" sz="3400" b="1">
                <a:solidFill>
                  <a:srgbClr val="F4F8FA"/>
                </a:solidFill>
                <a:latin typeface="Tahoma"/>
                <a:ea typeface="Tahoma"/>
                <a:cs typeface="Tahoma"/>
              </a:rPr>
              <a:t>دعونا نجرّب رحلة كاملة</a:t>
            </a:r>
          </a:p>
        </p:txBody>
      </p:sp>
      <p:sp>
        <p:nvSpPr>
          <p:cNvPr id="6" name="Rounded Rectangle 5"/>
          <p:cNvSpPr/>
          <p:nvPr/>
        </p:nvSpPr>
        <p:spPr>
          <a:xfrm>
            <a:off x="8074152" y="2761488"/>
            <a:ext cx="3520439" cy="3209544"/>
          </a:xfrm>
          <a:prstGeom prst="roundRect">
            <a:avLst>
              <a:gd name="adj" fmla="val 7000"/>
            </a:avLst>
          </a:prstGeom>
          <a:solidFill>
            <a:srgbClr val="1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57031" y="2935224"/>
            <a:ext cx="3154679" cy="411480"/>
          </a:xfrm>
          <a:prstGeom prst="rect">
            <a:avLst/>
          </a:prstGeom>
          <a:noFill/>
        </p:spPr>
        <p:txBody>
          <a:bodyPr wrap="square" lIns="36576" tIns="0" rIns="36576" bIns="0">
            <a:spAutoFit/>
          </a:bodyPr>
          <a:lstStyle/>
          <a:p>
            <a:pPr algn="r" rtl="1">
              <a:spcAft>
                <a:spcPts val="600"/>
              </a:spcAft>
            </a:pPr>
            <a:r>
              <a:rPr lang="ar-JO" sz="2300" b="1">
                <a:solidFill>
                  <a:srgbClr val="66D7C4"/>
                </a:solidFill>
                <a:latin typeface="Tahoma"/>
                <a:ea typeface="Tahoma"/>
                <a:cs typeface="Tahoma"/>
              </a:rPr>
              <a:t>ابدأ ووضّح</a:t>
            </a:r>
          </a:p>
        </p:txBody>
      </p:sp>
      <p:sp>
        <p:nvSpPr>
          <p:cNvPr id="8" name="TextBox 7"/>
          <p:cNvSpPr txBox="1"/>
          <p:nvPr/>
        </p:nvSpPr>
        <p:spPr>
          <a:xfrm>
            <a:off x="8257031" y="3456432"/>
            <a:ext cx="3154679" cy="2441448"/>
          </a:xfrm>
          <a:prstGeom prst="rect">
            <a:avLst/>
          </a:prstGeom>
          <a:noFill/>
        </p:spPr>
        <p:txBody>
          <a:bodyPr wrap="square" lIns="36576" tIns="0" rIns="36576" bIns="0">
            <a:spAutoFit/>
          </a:bodyPr>
          <a:lstStyle/>
          <a:p>
            <a:pPr algn="r" rtl="1">
              <a:spcAft>
                <a:spcPts val="600"/>
              </a:spcAft>
            </a:pPr>
            <a:r>
              <a:rPr lang="ar-JO" sz="2100" b="0">
                <a:solidFill>
                  <a:srgbClr val="F4F8FA"/>
                </a:solidFill>
                <a:latin typeface="Tahoma"/>
                <a:ea typeface="Tahoma"/>
                <a:cs typeface="Tahoma"/>
              </a:rPr>
              <a:t>demo → محل ملابس بعمان → مؤسسة فردية → مستأجر → رحلة ومصدر.</a:t>
            </a:r>
          </a:p>
        </p:txBody>
      </p:sp>
      <p:sp>
        <p:nvSpPr>
          <p:cNvPr id="9" name="Rounded Rectangle 8"/>
          <p:cNvSpPr/>
          <p:nvPr/>
        </p:nvSpPr>
        <p:spPr>
          <a:xfrm>
            <a:off x="4334256" y="2761488"/>
            <a:ext cx="3520439" cy="3209544"/>
          </a:xfrm>
          <a:prstGeom prst="roundRect">
            <a:avLst>
              <a:gd name="adj" fmla="val 7000"/>
            </a:avLst>
          </a:prstGeom>
          <a:solidFill>
            <a:srgbClr val="1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17136" y="2935224"/>
            <a:ext cx="3154679" cy="411480"/>
          </a:xfrm>
          <a:prstGeom prst="rect">
            <a:avLst/>
          </a:prstGeom>
          <a:noFill/>
        </p:spPr>
        <p:txBody>
          <a:bodyPr wrap="square" lIns="36576" tIns="0" rIns="36576" bIns="0">
            <a:spAutoFit/>
          </a:bodyPr>
          <a:lstStyle/>
          <a:p>
            <a:pPr algn="r" rtl="1">
              <a:spcAft>
                <a:spcPts val="600"/>
              </a:spcAft>
            </a:pPr>
            <a:r>
              <a:rPr lang="ar-JO" sz="2300" b="1">
                <a:solidFill>
                  <a:srgbClr val="66D7C4"/>
                </a:solidFill>
                <a:latin typeface="Tahoma"/>
                <a:ea typeface="Tahoma"/>
                <a:cs typeface="Tahoma"/>
              </a:rPr>
              <a:t>احفظ واختبر</a:t>
            </a:r>
          </a:p>
        </p:txBody>
      </p:sp>
      <p:sp>
        <p:nvSpPr>
          <p:cNvPr id="11" name="TextBox 10"/>
          <p:cNvSpPr txBox="1"/>
          <p:nvPr/>
        </p:nvSpPr>
        <p:spPr>
          <a:xfrm>
            <a:off x="4517136" y="3456432"/>
            <a:ext cx="3154679" cy="2441448"/>
          </a:xfrm>
          <a:prstGeom prst="rect">
            <a:avLst/>
          </a:prstGeom>
          <a:noFill/>
        </p:spPr>
        <p:txBody>
          <a:bodyPr wrap="square" lIns="36576" tIns="0" rIns="36576" bIns="0">
            <a:spAutoFit/>
          </a:bodyPr>
          <a:lstStyle/>
          <a:p>
            <a:pPr algn="r" rtl="1">
              <a:spcAft>
                <a:spcPts val="600"/>
              </a:spcAft>
            </a:pPr>
            <a:r>
              <a:rPr lang="ar-JO" sz="2100" b="0">
                <a:solidFill>
                  <a:srgbClr val="F4F8FA"/>
                </a:solidFill>
                <a:latin typeface="Tahoma"/>
                <a:ea typeface="Tahoma"/>
                <a:cs typeface="Tahoma"/>
              </a:rPr>
              <a:t>علّم وثيقة وأعد التحميل؛ غيّر إلى مملوك؛ اسأل عن رسوم بلا دليل.</a:t>
            </a:r>
          </a:p>
        </p:txBody>
      </p:sp>
      <p:sp>
        <p:nvSpPr>
          <p:cNvPr id="12" name="Rounded Rectangle 11"/>
          <p:cNvSpPr/>
          <p:nvPr/>
        </p:nvSpPr>
        <p:spPr>
          <a:xfrm>
            <a:off x="594360" y="2761488"/>
            <a:ext cx="3520439" cy="3209544"/>
          </a:xfrm>
          <a:prstGeom prst="roundRect">
            <a:avLst>
              <a:gd name="adj" fmla="val 7000"/>
            </a:avLst>
          </a:prstGeom>
          <a:solidFill>
            <a:srgbClr val="1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7240" y="2935224"/>
            <a:ext cx="3154679" cy="411480"/>
          </a:xfrm>
          <a:prstGeom prst="rect">
            <a:avLst/>
          </a:prstGeom>
          <a:noFill/>
        </p:spPr>
        <p:txBody>
          <a:bodyPr wrap="square" lIns="36576" tIns="0" rIns="36576" bIns="0">
            <a:spAutoFit/>
          </a:bodyPr>
          <a:lstStyle/>
          <a:p>
            <a:pPr algn="r" rtl="1">
              <a:spcAft>
                <a:spcPts val="600"/>
              </a:spcAft>
            </a:pPr>
            <a:r>
              <a:rPr lang="ar-JO" sz="2300" b="1">
                <a:solidFill>
                  <a:srgbClr val="66D7C4"/>
                </a:solidFill>
                <a:latin typeface="Tahoma"/>
                <a:ea typeface="Tahoma"/>
                <a:cs typeface="Tahoma"/>
              </a:rPr>
              <a:t>تابع وادعم</a:t>
            </a:r>
          </a:p>
        </p:txBody>
      </p:sp>
      <p:sp>
        <p:nvSpPr>
          <p:cNvPr id="14" name="TextBox 13"/>
          <p:cNvSpPr txBox="1"/>
          <p:nvPr/>
        </p:nvSpPr>
        <p:spPr>
          <a:xfrm>
            <a:off x="777240" y="3456432"/>
            <a:ext cx="3154679" cy="2441448"/>
          </a:xfrm>
          <a:prstGeom prst="rect">
            <a:avLst/>
          </a:prstGeom>
          <a:noFill/>
        </p:spPr>
        <p:txBody>
          <a:bodyPr wrap="square" lIns="36576" tIns="0" rIns="36576" bIns="0">
            <a:spAutoFit/>
          </a:bodyPr>
          <a:lstStyle/>
          <a:p>
            <a:pPr algn="r" rtl="1">
              <a:spcAft>
                <a:spcPts val="600"/>
              </a:spcAft>
            </a:pPr>
            <a:r>
              <a:rPr lang="ar-JO" sz="2100" b="0">
                <a:solidFill>
                  <a:srgbClr val="F4F8FA"/>
                </a:solidFill>
                <a:latin typeface="Tahoma"/>
                <a:ea typeface="Tahoma"/>
                <a:cs typeface="Tahoma"/>
              </a:rPr>
              <a:t>السجل، خطة مغسلة سيارات، ثم رسالة دعم أو عرض المدير بحسب الوقت.</a:t>
            </a:r>
          </a:p>
        </p:txBody>
      </p:sp>
      <p:sp>
        <p:nvSpPr>
          <p:cNvPr id="15" name="Rectangle 14"/>
          <p:cNvSpPr/>
          <p:nvPr/>
        </p:nvSpPr>
        <p:spPr>
          <a:xfrm>
            <a:off x="594360" y="6437376"/>
            <a:ext cx="11000232" cy="10972"/>
          </a:xfrm>
          <a:prstGeom prst="rect">
            <a:avLst/>
          </a:prstGeom>
          <a:solidFill>
            <a:srgbClr val="2941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212080" y="6547104"/>
            <a:ext cx="6355080" cy="210312"/>
          </a:xfrm>
          <a:prstGeom prst="rect">
            <a:avLst/>
          </a:prstGeom>
          <a:noFill/>
        </p:spPr>
        <p:txBody>
          <a:bodyPr wrap="square" lIns="36576" tIns="0" rIns="36576" bIns="0">
            <a:spAutoFit/>
          </a:bodyPr>
          <a:lstStyle/>
          <a:p>
            <a:pPr algn="r" rtl="1">
              <a:spcAft>
                <a:spcPts val="600"/>
              </a:spcAft>
            </a:pPr>
            <a:r>
              <a:rPr lang="ar-JO" sz="1000" b="0">
                <a:solidFill>
                  <a:srgbClr val="B9CCD8"/>
                </a:solidFill>
                <a:latin typeface="Tahoma"/>
                <a:ea typeface="Tahoma"/>
                <a:cs typeface="Tahoma"/>
              </a:rPr>
              <a:t>Mustanad Jo  |  MVP إرشادي · معايير 5–8</a:t>
            </a:r>
          </a:p>
        </p:txBody>
      </p:sp>
      <p:sp>
        <p:nvSpPr>
          <p:cNvPr id="17" name="TextBox 16"/>
          <p:cNvSpPr txBox="1"/>
          <p:nvPr/>
        </p:nvSpPr>
        <p:spPr>
          <a:xfrm>
            <a:off x="594360" y="6547104"/>
            <a:ext cx="1828800" cy="210312"/>
          </a:xfrm>
          <a:prstGeom prst="rect">
            <a:avLst/>
          </a:prstGeom>
          <a:noFill/>
        </p:spPr>
        <p:txBody>
          <a:bodyPr wrap="square" lIns="36576" tIns="0" rIns="36576" bIns="0">
            <a:spAutoFit/>
          </a:bodyPr>
          <a:lstStyle/>
          <a:p>
            <a:pPr algn="r" rtl="1">
              <a:spcAft>
                <a:spcPts val="600"/>
              </a:spcAft>
            </a:pPr>
            <a:r>
              <a:rPr lang="ar-JO" sz="1000" b="0">
                <a:solidFill>
                  <a:srgbClr val="B9CCD8"/>
                </a:solidFill>
                <a:latin typeface="Tahoma"/>
                <a:ea typeface="Tahoma"/>
                <a:cs typeface="Tahoma"/>
              </a:rPr>
              <a:t>الشريحة 7 من 17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1926"/>
        </a:solidFill>
        <a:effectLst/>
      </p:bgPr>
    </p:bg>
    <p:spTree>
      <p:nvGrpSpPr>
        <p:cNvPr id="1" name=""/>
        <p:cNvGrpSpPr/>
        <p:nvPr/>
      </p:nvGrpSpPr>
      <p:grpSpPr>
        <a:xfrm>
          <a:off x="0" y="0"/>
          <a:ext cx="0" cy="0"/>
          <a:chOff x="0" y="0"/>
          <a:chExt cx="0" cy="0"/>
        </a:xfrm>
      </p:grpSpPr>
      <p:sp>
        <p:nvSpPr>
          <p:cNvPr id="2" name="Rectangle 1"/>
          <p:cNvSpPr/>
          <p:nvPr/>
        </p:nvSpPr>
        <p:spPr>
          <a:xfrm>
            <a:off x="11539728" y="484632"/>
            <a:ext cx="54864" cy="1417320"/>
          </a:xfrm>
          <a:prstGeom prst="rect">
            <a:avLst/>
          </a:prstGeom>
          <a:solidFill>
            <a:srgbClr val="66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57200"/>
            <a:ext cx="10881360" cy="365760"/>
          </a:xfrm>
          <a:prstGeom prst="rect">
            <a:avLst/>
          </a:prstGeom>
          <a:noFill/>
        </p:spPr>
        <p:txBody>
          <a:bodyPr wrap="square" lIns="36576" tIns="0" rIns="36576" bIns="0">
            <a:spAutoFit/>
          </a:bodyPr>
          <a:lstStyle/>
          <a:p>
            <a:pPr algn="r" rtl="1">
              <a:spcAft>
                <a:spcPts val="600"/>
              </a:spcAft>
            </a:pPr>
            <a:r>
              <a:rPr lang="ar-JO" sz="1500" b="0">
                <a:solidFill>
                  <a:srgbClr val="66D7C4"/>
                </a:solidFill>
                <a:latin typeface="Tahoma"/>
                <a:ea typeface="Tahoma"/>
                <a:cs typeface="Tahoma"/>
              </a:rPr>
              <a:t>5B / 5E · تصميم النظام</a:t>
            </a:r>
          </a:p>
        </p:txBody>
      </p:sp>
      <p:sp>
        <p:nvSpPr>
          <p:cNvPr id="4" name="TextBox 3"/>
          <p:cNvSpPr txBox="1"/>
          <p:nvPr/>
        </p:nvSpPr>
        <p:spPr>
          <a:xfrm>
            <a:off x="548640" y="932688"/>
            <a:ext cx="10881360" cy="640080"/>
          </a:xfrm>
          <a:prstGeom prst="rect">
            <a:avLst/>
          </a:prstGeom>
          <a:noFill/>
        </p:spPr>
        <p:txBody>
          <a:bodyPr wrap="square" lIns="36576" tIns="0" rIns="36576" bIns="0">
            <a:spAutoFit/>
          </a:bodyPr>
          <a:lstStyle/>
          <a:p>
            <a:pPr algn="r" rtl="1">
              <a:spcAft>
                <a:spcPts val="600"/>
              </a:spcAft>
            </a:pPr>
            <a:r>
              <a:rPr lang="ar-JO" sz="3400" b="1">
                <a:solidFill>
                  <a:srgbClr val="F4F8FA"/>
                </a:solidFill>
                <a:latin typeface="Tahoma"/>
                <a:ea typeface="Tahoma"/>
                <a:cs typeface="Tahoma"/>
              </a:rPr>
              <a:t>تطبيق واحد، وحدود واضحة</a:t>
            </a:r>
          </a:p>
        </p:txBody>
      </p:sp>
      <p:sp>
        <p:nvSpPr>
          <p:cNvPr id="5" name="TextBox 4"/>
          <p:cNvSpPr txBox="1"/>
          <p:nvPr/>
        </p:nvSpPr>
        <p:spPr>
          <a:xfrm>
            <a:off x="548640" y="1700784"/>
            <a:ext cx="10972800" cy="777240"/>
          </a:xfrm>
          <a:prstGeom prst="rect">
            <a:avLst/>
          </a:prstGeom>
          <a:noFill/>
        </p:spPr>
        <p:txBody>
          <a:bodyPr wrap="square" lIns="36576" tIns="0" rIns="36576" bIns="0">
            <a:spAutoFit/>
          </a:bodyPr>
          <a:lstStyle/>
          <a:p>
            <a:pPr algn="r" rtl="1">
              <a:spcAft>
                <a:spcPts val="600"/>
              </a:spcAft>
            </a:pPr>
            <a:r>
              <a:rPr lang="ar-JO" sz="2000" b="0">
                <a:solidFill>
                  <a:srgbClr val="B9CCD8"/>
                </a:solidFill>
                <a:latin typeface="Tahoma"/>
                <a:ea typeface="Tahoma"/>
                <a:cs typeface="Tahoma"/>
              </a:rPr>
              <a:t>متصفح RTL → Next.js وAPI → وحدات المجال → MongoDB / Ollama / JSON.</a:t>
            </a:r>
          </a:p>
        </p:txBody>
      </p:sp>
      <p:sp>
        <p:nvSpPr>
          <p:cNvPr id="6" name="Rounded Rectangle 5"/>
          <p:cNvSpPr/>
          <p:nvPr/>
        </p:nvSpPr>
        <p:spPr>
          <a:xfrm>
            <a:off x="8732520" y="2542032"/>
            <a:ext cx="2432304" cy="585216"/>
          </a:xfrm>
          <a:prstGeom prst="roundRect">
            <a:avLst>
              <a:gd name="adj" fmla="val 7000"/>
            </a:avLst>
          </a:prstGeom>
          <a:solidFill>
            <a:srgbClr val="1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805672" y="2651760"/>
            <a:ext cx="2286000" cy="384048"/>
          </a:xfrm>
          <a:prstGeom prst="rect">
            <a:avLst/>
          </a:prstGeom>
          <a:noFill/>
        </p:spPr>
        <p:txBody>
          <a:bodyPr wrap="square" lIns="36576" tIns="0" rIns="36576" bIns="0">
            <a:spAutoFit/>
          </a:bodyPr>
          <a:lstStyle/>
          <a:p>
            <a:pPr algn="r" rtl="1">
              <a:spcAft>
                <a:spcPts val="600"/>
              </a:spcAft>
            </a:pPr>
            <a:r>
              <a:rPr lang="ar-JO" sz="1600" b="0">
                <a:solidFill>
                  <a:srgbClr val="66D7C4"/>
                </a:solidFill>
                <a:latin typeface="Tahoma"/>
                <a:ea typeface="Tahoma"/>
                <a:cs typeface="Tahoma"/>
              </a:rPr>
              <a:t>متصفح RTL</a:t>
            </a:r>
          </a:p>
        </p:txBody>
      </p:sp>
      <p:sp>
        <p:nvSpPr>
          <p:cNvPr id="8" name="TextBox 7"/>
          <p:cNvSpPr txBox="1"/>
          <p:nvPr/>
        </p:nvSpPr>
        <p:spPr>
          <a:xfrm>
            <a:off x="8366760" y="2624328"/>
            <a:ext cx="320040" cy="411480"/>
          </a:xfrm>
          <a:prstGeom prst="rect">
            <a:avLst/>
          </a:prstGeom>
          <a:noFill/>
        </p:spPr>
        <p:txBody>
          <a:bodyPr wrap="square" lIns="36576" tIns="0" rIns="36576" bIns="0">
            <a:spAutoFit/>
          </a:bodyPr>
          <a:lstStyle/>
          <a:p>
            <a:pPr algn="r" rtl="1">
              <a:spcAft>
                <a:spcPts val="600"/>
              </a:spcAft>
            </a:pPr>
            <a:r>
              <a:rPr lang="ar-JO" sz="2200" b="0">
                <a:solidFill>
                  <a:srgbClr val="66D7C4"/>
                </a:solidFill>
                <a:latin typeface="Tahoma"/>
                <a:ea typeface="Tahoma"/>
                <a:cs typeface="Tahoma"/>
              </a:rPr>
              <a:t>←</a:t>
            </a:r>
          </a:p>
        </p:txBody>
      </p:sp>
      <p:sp>
        <p:nvSpPr>
          <p:cNvPr id="9" name="Rounded Rectangle 8"/>
          <p:cNvSpPr/>
          <p:nvPr/>
        </p:nvSpPr>
        <p:spPr>
          <a:xfrm>
            <a:off x="5971032" y="2542032"/>
            <a:ext cx="2432304" cy="585216"/>
          </a:xfrm>
          <a:prstGeom prst="roundRect">
            <a:avLst>
              <a:gd name="adj" fmla="val 7000"/>
            </a:avLst>
          </a:prstGeom>
          <a:solidFill>
            <a:srgbClr val="1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044184" y="2651760"/>
            <a:ext cx="2286000" cy="384048"/>
          </a:xfrm>
          <a:prstGeom prst="rect">
            <a:avLst/>
          </a:prstGeom>
          <a:noFill/>
        </p:spPr>
        <p:txBody>
          <a:bodyPr wrap="square" lIns="36576" tIns="0" rIns="36576" bIns="0">
            <a:spAutoFit/>
          </a:bodyPr>
          <a:lstStyle/>
          <a:p>
            <a:pPr algn="r" rtl="1">
              <a:spcAft>
                <a:spcPts val="600"/>
              </a:spcAft>
            </a:pPr>
            <a:r>
              <a:rPr lang="ar-JO" sz="1600" b="0">
                <a:solidFill>
                  <a:srgbClr val="66D7C4"/>
                </a:solidFill>
                <a:latin typeface="Tahoma"/>
                <a:ea typeface="Tahoma"/>
                <a:cs typeface="Tahoma"/>
              </a:rPr>
              <a:t>Next.js + API</a:t>
            </a:r>
          </a:p>
        </p:txBody>
      </p:sp>
      <p:sp>
        <p:nvSpPr>
          <p:cNvPr id="11" name="TextBox 10"/>
          <p:cNvSpPr txBox="1"/>
          <p:nvPr/>
        </p:nvSpPr>
        <p:spPr>
          <a:xfrm>
            <a:off x="5605272" y="2624328"/>
            <a:ext cx="320040" cy="411480"/>
          </a:xfrm>
          <a:prstGeom prst="rect">
            <a:avLst/>
          </a:prstGeom>
          <a:noFill/>
        </p:spPr>
        <p:txBody>
          <a:bodyPr wrap="square" lIns="36576" tIns="0" rIns="36576" bIns="0">
            <a:spAutoFit/>
          </a:bodyPr>
          <a:lstStyle/>
          <a:p>
            <a:pPr algn="r" rtl="1">
              <a:spcAft>
                <a:spcPts val="600"/>
              </a:spcAft>
            </a:pPr>
            <a:r>
              <a:rPr lang="ar-JO" sz="2200" b="0">
                <a:solidFill>
                  <a:srgbClr val="66D7C4"/>
                </a:solidFill>
                <a:latin typeface="Tahoma"/>
                <a:ea typeface="Tahoma"/>
                <a:cs typeface="Tahoma"/>
              </a:rPr>
              <a:t>←</a:t>
            </a:r>
          </a:p>
        </p:txBody>
      </p:sp>
      <p:sp>
        <p:nvSpPr>
          <p:cNvPr id="12" name="Rounded Rectangle 11"/>
          <p:cNvSpPr/>
          <p:nvPr/>
        </p:nvSpPr>
        <p:spPr>
          <a:xfrm>
            <a:off x="3209544" y="2542032"/>
            <a:ext cx="2432304" cy="585216"/>
          </a:xfrm>
          <a:prstGeom prst="roundRect">
            <a:avLst>
              <a:gd name="adj" fmla="val 7000"/>
            </a:avLst>
          </a:prstGeom>
          <a:solidFill>
            <a:srgbClr val="1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282696" y="2651760"/>
            <a:ext cx="2286000" cy="384048"/>
          </a:xfrm>
          <a:prstGeom prst="rect">
            <a:avLst/>
          </a:prstGeom>
          <a:noFill/>
        </p:spPr>
        <p:txBody>
          <a:bodyPr wrap="square" lIns="36576" tIns="0" rIns="36576" bIns="0">
            <a:spAutoFit/>
          </a:bodyPr>
          <a:lstStyle/>
          <a:p>
            <a:pPr algn="r" rtl="1">
              <a:spcAft>
                <a:spcPts val="600"/>
              </a:spcAft>
            </a:pPr>
            <a:r>
              <a:rPr lang="ar-JO" sz="1600" b="0">
                <a:solidFill>
                  <a:srgbClr val="66D7C4"/>
                </a:solidFill>
                <a:latin typeface="Tahoma"/>
                <a:ea typeface="Tahoma"/>
                <a:cs typeface="Tahoma"/>
              </a:rPr>
              <a:t>وحدات المجال</a:t>
            </a:r>
          </a:p>
        </p:txBody>
      </p:sp>
      <p:sp>
        <p:nvSpPr>
          <p:cNvPr id="14" name="TextBox 13"/>
          <p:cNvSpPr txBox="1"/>
          <p:nvPr/>
        </p:nvSpPr>
        <p:spPr>
          <a:xfrm>
            <a:off x="2843784" y="2624328"/>
            <a:ext cx="320040" cy="411480"/>
          </a:xfrm>
          <a:prstGeom prst="rect">
            <a:avLst/>
          </a:prstGeom>
          <a:noFill/>
        </p:spPr>
        <p:txBody>
          <a:bodyPr wrap="square" lIns="36576" tIns="0" rIns="36576" bIns="0">
            <a:spAutoFit/>
          </a:bodyPr>
          <a:lstStyle/>
          <a:p>
            <a:pPr algn="r" rtl="1">
              <a:spcAft>
                <a:spcPts val="600"/>
              </a:spcAft>
            </a:pPr>
            <a:r>
              <a:rPr lang="ar-JO" sz="2200" b="0">
                <a:solidFill>
                  <a:srgbClr val="66D7C4"/>
                </a:solidFill>
                <a:latin typeface="Tahoma"/>
                <a:ea typeface="Tahoma"/>
                <a:cs typeface="Tahoma"/>
              </a:rPr>
              <a:t>←</a:t>
            </a:r>
          </a:p>
        </p:txBody>
      </p:sp>
      <p:sp>
        <p:nvSpPr>
          <p:cNvPr id="15" name="Rounded Rectangle 14"/>
          <p:cNvSpPr/>
          <p:nvPr/>
        </p:nvSpPr>
        <p:spPr>
          <a:xfrm>
            <a:off x="448056" y="2542032"/>
            <a:ext cx="2432304" cy="585216"/>
          </a:xfrm>
          <a:prstGeom prst="roundRect">
            <a:avLst>
              <a:gd name="adj" fmla="val 7000"/>
            </a:avLst>
          </a:prstGeom>
          <a:solidFill>
            <a:srgbClr val="1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21208" y="2651760"/>
            <a:ext cx="2286000" cy="384048"/>
          </a:xfrm>
          <a:prstGeom prst="rect">
            <a:avLst/>
          </a:prstGeom>
          <a:noFill/>
        </p:spPr>
        <p:txBody>
          <a:bodyPr wrap="square" lIns="36576" tIns="0" rIns="36576" bIns="0">
            <a:spAutoFit/>
          </a:bodyPr>
          <a:lstStyle/>
          <a:p>
            <a:pPr algn="r" rtl="1">
              <a:spcAft>
                <a:spcPts val="600"/>
              </a:spcAft>
            </a:pPr>
            <a:r>
              <a:rPr lang="ar-JO" sz="1600" b="0">
                <a:solidFill>
                  <a:srgbClr val="66D7C4"/>
                </a:solidFill>
                <a:latin typeface="Tahoma"/>
                <a:ea typeface="Tahoma"/>
                <a:cs typeface="Tahoma"/>
              </a:rPr>
              <a:t>MongoDB / Ollama / JSON</a:t>
            </a:r>
          </a:p>
        </p:txBody>
      </p:sp>
      <p:sp>
        <p:nvSpPr>
          <p:cNvPr id="17" name="Rounded Rectangle 16"/>
          <p:cNvSpPr/>
          <p:nvPr/>
        </p:nvSpPr>
        <p:spPr>
          <a:xfrm>
            <a:off x="8074152" y="3364992"/>
            <a:ext cx="3520439" cy="2615184"/>
          </a:xfrm>
          <a:prstGeom prst="roundRect">
            <a:avLst>
              <a:gd name="adj" fmla="val 7000"/>
            </a:avLst>
          </a:prstGeom>
          <a:solidFill>
            <a:srgbClr val="1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57031" y="3538728"/>
            <a:ext cx="3154679" cy="411480"/>
          </a:xfrm>
          <a:prstGeom prst="rect">
            <a:avLst/>
          </a:prstGeom>
          <a:noFill/>
        </p:spPr>
        <p:txBody>
          <a:bodyPr wrap="square" lIns="36576" tIns="0" rIns="36576" bIns="0">
            <a:spAutoFit/>
          </a:bodyPr>
          <a:lstStyle/>
          <a:p>
            <a:pPr algn="r" rtl="1">
              <a:spcAft>
                <a:spcPts val="600"/>
              </a:spcAft>
            </a:pPr>
            <a:r>
              <a:rPr lang="ar-JO" sz="2300" b="1">
                <a:solidFill>
                  <a:srgbClr val="66D7C4"/>
                </a:solidFill>
                <a:latin typeface="Tahoma"/>
                <a:ea typeface="Tahoma"/>
                <a:cs typeface="Tahoma"/>
              </a:rPr>
              <a:t>واجهة وHTTP</a:t>
            </a:r>
          </a:p>
        </p:txBody>
      </p:sp>
      <p:sp>
        <p:nvSpPr>
          <p:cNvPr id="19" name="TextBox 18"/>
          <p:cNvSpPr txBox="1"/>
          <p:nvPr/>
        </p:nvSpPr>
        <p:spPr>
          <a:xfrm>
            <a:off x="8257031" y="4059936"/>
            <a:ext cx="3154679" cy="1847087"/>
          </a:xfrm>
          <a:prstGeom prst="rect">
            <a:avLst/>
          </a:prstGeom>
          <a:noFill/>
        </p:spPr>
        <p:txBody>
          <a:bodyPr wrap="square" lIns="36576" tIns="0" rIns="36576" bIns="0">
            <a:spAutoFit/>
          </a:bodyPr>
          <a:lstStyle/>
          <a:p>
            <a:pPr algn="r" rtl="1">
              <a:spcAft>
                <a:spcPts val="600"/>
              </a:spcAft>
            </a:pPr>
            <a:r>
              <a:rPr lang="ar-JO" sz="2100" b="0">
                <a:solidFill>
                  <a:srgbClr val="F4F8FA"/>
                </a:solidFill>
                <a:latin typeface="Tahoma"/>
                <a:ea typeface="Tahoma"/>
                <a:cs typeface="Tahoma"/>
              </a:rPr>
              <a:t>app وcomponents: العرض، المدخلات، حالات الانتظار والأخطاء.</a:t>
            </a:r>
          </a:p>
        </p:txBody>
      </p:sp>
      <p:sp>
        <p:nvSpPr>
          <p:cNvPr id="20" name="Rounded Rectangle 19"/>
          <p:cNvSpPr/>
          <p:nvPr/>
        </p:nvSpPr>
        <p:spPr>
          <a:xfrm>
            <a:off x="4334256" y="3364992"/>
            <a:ext cx="3520439" cy="2615184"/>
          </a:xfrm>
          <a:prstGeom prst="roundRect">
            <a:avLst>
              <a:gd name="adj" fmla="val 7000"/>
            </a:avLst>
          </a:prstGeom>
          <a:solidFill>
            <a:srgbClr val="1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17136" y="3538728"/>
            <a:ext cx="3154679" cy="411480"/>
          </a:xfrm>
          <a:prstGeom prst="rect">
            <a:avLst/>
          </a:prstGeom>
          <a:noFill/>
        </p:spPr>
        <p:txBody>
          <a:bodyPr wrap="square" lIns="36576" tIns="0" rIns="36576" bIns="0">
            <a:spAutoFit/>
          </a:bodyPr>
          <a:lstStyle/>
          <a:p>
            <a:pPr algn="r" rtl="1">
              <a:spcAft>
                <a:spcPts val="600"/>
              </a:spcAft>
            </a:pPr>
            <a:r>
              <a:rPr lang="ar-JO" sz="2300" b="1">
                <a:solidFill>
                  <a:srgbClr val="66D7C4"/>
                </a:solidFill>
                <a:latin typeface="Tahoma"/>
                <a:ea typeface="Tahoma"/>
                <a:cs typeface="Tahoma"/>
              </a:rPr>
              <a:t>منطق المجال</a:t>
            </a:r>
          </a:p>
        </p:txBody>
      </p:sp>
      <p:sp>
        <p:nvSpPr>
          <p:cNvPr id="22" name="TextBox 21"/>
          <p:cNvSpPr txBox="1"/>
          <p:nvPr/>
        </p:nvSpPr>
        <p:spPr>
          <a:xfrm>
            <a:off x="4517136" y="4059936"/>
            <a:ext cx="3154679" cy="1847087"/>
          </a:xfrm>
          <a:prstGeom prst="rect">
            <a:avLst/>
          </a:prstGeom>
          <a:noFill/>
        </p:spPr>
        <p:txBody>
          <a:bodyPr wrap="square" lIns="36576" tIns="0" rIns="36576" bIns="0">
            <a:spAutoFit/>
          </a:bodyPr>
          <a:lstStyle/>
          <a:p>
            <a:pPr algn="r" rtl="1">
              <a:spcAft>
                <a:spcPts val="600"/>
              </a:spcAft>
            </a:pPr>
            <a:r>
              <a:rPr lang="ar-JO" sz="2100" b="0">
                <a:solidFill>
                  <a:srgbClr val="F4F8FA"/>
                </a:solidFill>
                <a:latin typeface="Tahoma"/>
                <a:ea typeface="Tahoma"/>
                <a:cs typeface="Tahoma"/>
              </a:rPr>
              <a:t>lib: النية والقواعد والاسترجاع والحسابات والحفظ وعقود Zod.</a:t>
            </a:r>
          </a:p>
        </p:txBody>
      </p:sp>
      <p:sp>
        <p:nvSpPr>
          <p:cNvPr id="23" name="Rounded Rectangle 22"/>
          <p:cNvSpPr/>
          <p:nvPr/>
        </p:nvSpPr>
        <p:spPr>
          <a:xfrm>
            <a:off x="594360" y="3364992"/>
            <a:ext cx="3520439" cy="2615184"/>
          </a:xfrm>
          <a:prstGeom prst="roundRect">
            <a:avLst>
              <a:gd name="adj" fmla="val 7000"/>
            </a:avLst>
          </a:prstGeom>
          <a:solidFill>
            <a:srgbClr val="1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77240" y="3538728"/>
            <a:ext cx="3154679" cy="411480"/>
          </a:xfrm>
          <a:prstGeom prst="rect">
            <a:avLst/>
          </a:prstGeom>
          <a:noFill/>
        </p:spPr>
        <p:txBody>
          <a:bodyPr wrap="square" lIns="36576" tIns="0" rIns="36576" bIns="0">
            <a:spAutoFit/>
          </a:bodyPr>
          <a:lstStyle/>
          <a:p>
            <a:pPr algn="r" rtl="1">
              <a:spcAft>
                <a:spcPts val="600"/>
              </a:spcAft>
            </a:pPr>
            <a:r>
              <a:rPr lang="ar-JO" sz="2300" b="1">
                <a:solidFill>
                  <a:srgbClr val="66D7C4"/>
                </a:solidFill>
                <a:latin typeface="Tahoma"/>
                <a:ea typeface="Tahoma"/>
                <a:cs typeface="Tahoma"/>
              </a:rPr>
              <a:t>بيانات ونموذج</a:t>
            </a:r>
          </a:p>
        </p:txBody>
      </p:sp>
      <p:sp>
        <p:nvSpPr>
          <p:cNvPr id="25" name="TextBox 24"/>
          <p:cNvSpPr txBox="1"/>
          <p:nvPr/>
        </p:nvSpPr>
        <p:spPr>
          <a:xfrm>
            <a:off x="777240" y="4059936"/>
            <a:ext cx="3154679" cy="1847087"/>
          </a:xfrm>
          <a:prstGeom prst="rect">
            <a:avLst/>
          </a:prstGeom>
          <a:noFill/>
        </p:spPr>
        <p:txBody>
          <a:bodyPr wrap="square" lIns="36576" tIns="0" rIns="36576" bIns="0">
            <a:spAutoFit/>
          </a:bodyPr>
          <a:lstStyle/>
          <a:p>
            <a:pPr algn="r" rtl="1">
              <a:spcAft>
                <a:spcPts val="600"/>
              </a:spcAft>
            </a:pPr>
            <a:r>
              <a:rPr lang="ar-JO" sz="2100" b="0">
                <a:solidFill>
                  <a:srgbClr val="F4F8FA"/>
                </a:solidFill>
                <a:latin typeface="Tahoma"/>
                <a:ea typeface="Tahoma"/>
                <a:cs typeface="Tahoma"/>
              </a:rPr>
              <a:t>MongoDB للحساب والمتابعة؛ ملفات المعرفة للقواعد؛ Ollama محلي اختياري.</a:t>
            </a:r>
          </a:p>
        </p:txBody>
      </p:sp>
      <p:sp>
        <p:nvSpPr>
          <p:cNvPr id="26" name="Rectangle 25"/>
          <p:cNvSpPr/>
          <p:nvPr/>
        </p:nvSpPr>
        <p:spPr>
          <a:xfrm>
            <a:off x="594360" y="6437376"/>
            <a:ext cx="11000232" cy="10972"/>
          </a:xfrm>
          <a:prstGeom prst="rect">
            <a:avLst/>
          </a:prstGeom>
          <a:solidFill>
            <a:srgbClr val="2941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212080" y="6547104"/>
            <a:ext cx="6355080" cy="210312"/>
          </a:xfrm>
          <a:prstGeom prst="rect">
            <a:avLst/>
          </a:prstGeom>
          <a:noFill/>
        </p:spPr>
        <p:txBody>
          <a:bodyPr wrap="square" lIns="36576" tIns="0" rIns="36576" bIns="0">
            <a:spAutoFit/>
          </a:bodyPr>
          <a:lstStyle/>
          <a:p>
            <a:pPr algn="r" rtl="1">
              <a:spcAft>
                <a:spcPts val="600"/>
              </a:spcAft>
            </a:pPr>
            <a:r>
              <a:rPr lang="ar-JO" sz="1000" b="0">
                <a:solidFill>
                  <a:srgbClr val="B9CCD8"/>
                </a:solidFill>
                <a:latin typeface="Tahoma"/>
                <a:ea typeface="Tahoma"/>
                <a:cs typeface="Tahoma"/>
              </a:rPr>
              <a:t>Mustanad Jo  |  MVP إرشادي · معايير 5–8</a:t>
            </a:r>
          </a:p>
        </p:txBody>
      </p:sp>
      <p:sp>
        <p:nvSpPr>
          <p:cNvPr id="28" name="TextBox 27"/>
          <p:cNvSpPr txBox="1"/>
          <p:nvPr/>
        </p:nvSpPr>
        <p:spPr>
          <a:xfrm>
            <a:off x="594360" y="6547104"/>
            <a:ext cx="1828800" cy="210312"/>
          </a:xfrm>
          <a:prstGeom prst="rect">
            <a:avLst/>
          </a:prstGeom>
          <a:noFill/>
        </p:spPr>
        <p:txBody>
          <a:bodyPr wrap="square" lIns="36576" tIns="0" rIns="36576" bIns="0">
            <a:spAutoFit/>
          </a:bodyPr>
          <a:lstStyle/>
          <a:p>
            <a:pPr algn="r" rtl="1">
              <a:spcAft>
                <a:spcPts val="600"/>
              </a:spcAft>
            </a:pPr>
            <a:r>
              <a:rPr lang="ar-JO" sz="1000" b="0">
                <a:solidFill>
                  <a:srgbClr val="B9CCD8"/>
                </a:solidFill>
                <a:latin typeface="Tahoma"/>
                <a:ea typeface="Tahoma"/>
                <a:cs typeface="Tahoma"/>
              </a:rPr>
              <a:t>الشريحة 9 من 17</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1926"/>
        </a:solidFill>
        <a:effectLst/>
      </p:bgPr>
    </p:bg>
    <p:spTree>
      <p:nvGrpSpPr>
        <p:cNvPr id="1" name=""/>
        <p:cNvGrpSpPr/>
        <p:nvPr/>
      </p:nvGrpSpPr>
      <p:grpSpPr>
        <a:xfrm>
          <a:off x="0" y="0"/>
          <a:ext cx="0" cy="0"/>
          <a:chOff x="0" y="0"/>
          <a:chExt cx="0" cy="0"/>
        </a:xfrm>
      </p:grpSpPr>
      <p:sp>
        <p:nvSpPr>
          <p:cNvPr id="2" name="Rectangle 1"/>
          <p:cNvSpPr/>
          <p:nvPr/>
        </p:nvSpPr>
        <p:spPr>
          <a:xfrm>
            <a:off x="11539728" y="484632"/>
            <a:ext cx="54864" cy="1417320"/>
          </a:xfrm>
          <a:prstGeom prst="rect">
            <a:avLst/>
          </a:prstGeom>
          <a:solidFill>
            <a:srgbClr val="66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57200"/>
            <a:ext cx="10881360" cy="365760"/>
          </a:xfrm>
          <a:prstGeom prst="rect">
            <a:avLst/>
          </a:prstGeom>
          <a:noFill/>
        </p:spPr>
        <p:txBody>
          <a:bodyPr wrap="square" lIns="36576" tIns="0" rIns="36576" bIns="0">
            <a:spAutoFit/>
          </a:bodyPr>
          <a:lstStyle/>
          <a:p>
            <a:pPr algn="r" rtl="1">
              <a:spcAft>
                <a:spcPts val="600"/>
              </a:spcAft>
            </a:pPr>
            <a:r>
              <a:rPr lang="ar-JO" sz="1500" b="0">
                <a:solidFill>
                  <a:srgbClr val="66D7C4"/>
                </a:solidFill>
                <a:latin typeface="Tahoma"/>
                <a:ea typeface="Tahoma"/>
                <a:cs typeface="Tahoma"/>
              </a:rPr>
              <a:t>5B / 7 · تصميم البيانات</a:t>
            </a:r>
          </a:p>
        </p:txBody>
      </p:sp>
      <p:sp>
        <p:nvSpPr>
          <p:cNvPr id="4" name="TextBox 3"/>
          <p:cNvSpPr txBox="1"/>
          <p:nvPr/>
        </p:nvSpPr>
        <p:spPr>
          <a:xfrm>
            <a:off x="548640" y="932688"/>
            <a:ext cx="10881360" cy="640080"/>
          </a:xfrm>
          <a:prstGeom prst="rect">
            <a:avLst/>
          </a:prstGeom>
          <a:noFill/>
        </p:spPr>
        <p:txBody>
          <a:bodyPr wrap="square" lIns="36576" tIns="0" rIns="36576" bIns="0">
            <a:spAutoFit/>
          </a:bodyPr>
          <a:lstStyle/>
          <a:p>
            <a:pPr algn="r" rtl="1">
              <a:spcAft>
                <a:spcPts val="600"/>
              </a:spcAft>
            </a:pPr>
            <a:r>
              <a:rPr lang="ar-JO" sz="3400" b="1">
                <a:solidFill>
                  <a:srgbClr val="F4F8FA"/>
                </a:solidFill>
                <a:latin typeface="Tahoma"/>
                <a:ea typeface="Tahoma"/>
                <a:cs typeface="Tahoma"/>
              </a:rPr>
              <a:t>كل متابعة تخص صاحبها</a:t>
            </a:r>
          </a:p>
        </p:txBody>
      </p:sp>
      <p:sp>
        <p:nvSpPr>
          <p:cNvPr id="5" name="TextBox 4"/>
          <p:cNvSpPr txBox="1"/>
          <p:nvPr/>
        </p:nvSpPr>
        <p:spPr>
          <a:xfrm>
            <a:off x="548640" y="1700784"/>
            <a:ext cx="10972800" cy="777240"/>
          </a:xfrm>
          <a:prstGeom prst="rect">
            <a:avLst/>
          </a:prstGeom>
          <a:noFill/>
        </p:spPr>
        <p:txBody>
          <a:bodyPr wrap="square" lIns="36576" tIns="0" rIns="36576" bIns="0">
            <a:spAutoFit/>
          </a:bodyPr>
          <a:lstStyle/>
          <a:p>
            <a:pPr algn="r" rtl="1">
              <a:spcAft>
                <a:spcPts val="600"/>
              </a:spcAft>
            </a:pPr>
            <a:r>
              <a:rPr lang="ar-JO" sz="2000" b="0">
                <a:solidFill>
                  <a:srgbClr val="B9CCD8"/>
                </a:solidFill>
                <a:latin typeface="Tahoma"/>
                <a:ea typeface="Tahoma"/>
                <a:cs typeface="Tahoma"/>
              </a:rPr>
              <a:t>MongoDB مصدر الحسابات والجلسات والسجل والتقدّم والدعم.</a:t>
            </a:r>
          </a:p>
        </p:txBody>
      </p:sp>
      <p:sp>
        <p:nvSpPr>
          <p:cNvPr id="6" name="Rounded Rectangle 5"/>
          <p:cNvSpPr/>
          <p:nvPr/>
        </p:nvSpPr>
        <p:spPr>
          <a:xfrm>
            <a:off x="8074152" y="2761488"/>
            <a:ext cx="3520439" cy="3209544"/>
          </a:xfrm>
          <a:prstGeom prst="roundRect">
            <a:avLst>
              <a:gd name="adj" fmla="val 7000"/>
            </a:avLst>
          </a:prstGeom>
          <a:solidFill>
            <a:srgbClr val="1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57031" y="2935224"/>
            <a:ext cx="3154679" cy="411480"/>
          </a:xfrm>
          <a:prstGeom prst="rect">
            <a:avLst/>
          </a:prstGeom>
          <a:noFill/>
        </p:spPr>
        <p:txBody>
          <a:bodyPr wrap="square" lIns="36576" tIns="0" rIns="36576" bIns="0">
            <a:spAutoFit/>
          </a:bodyPr>
          <a:lstStyle/>
          <a:p>
            <a:pPr algn="r" rtl="1">
              <a:spcAft>
                <a:spcPts val="600"/>
              </a:spcAft>
            </a:pPr>
            <a:r>
              <a:rPr lang="ar-JO" sz="2300" b="1">
                <a:solidFill>
                  <a:srgbClr val="66D7C4"/>
                </a:solidFill>
                <a:latin typeface="Tahoma"/>
                <a:ea typeface="Tahoma"/>
                <a:cs typeface="Tahoma"/>
              </a:rPr>
              <a:t>هوية ووصول</a:t>
            </a:r>
          </a:p>
        </p:txBody>
      </p:sp>
      <p:sp>
        <p:nvSpPr>
          <p:cNvPr id="8" name="TextBox 7"/>
          <p:cNvSpPr txBox="1"/>
          <p:nvPr/>
        </p:nvSpPr>
        <p:spPr>
          <a:xfrm>
            <a:off x="8257031" y="3456432"/>
            <a:ext cx="3154679" cy="2441448"/>
          </a:xfrm>
          <a:prstGeom prst="rect">
            <a:avLst/>
          </a:prstGeom>
          <a:noFill/>
        </p:spPr>
        <p:txBody>
          <a:bodyPr wrap="square" lIns="36576" tIns="0" rIns="36576" bIns="0">
            <a:spAutoFit/>
          </a:bodyPr>
          <a:lstStyle/>
          <a:p>
            <a:pPr algn="r" rtl="1">
              <a:spcAft>
                <a:spcPts val="600"/>
              </a:spcAft>
            </a:pPr>
            <a:r>
              <a:rPr lang="ar-JO" sz="2100" b="0">
                <a:solidFill>
                  <a:srgbClr val="F4F8FA"/>
                </a:solidFill>
                <a:latin typeface="Tahoma"/>
                <a:ea typeface="Tahoma"/>
                <a:cs typeface="Tahoma"/>
              </a:rPr>
              <a:t>accounts + sessions: كلمة مرور مشتقة، دور وحالة، وجلسات قابلة للإبطال.</a:t>
            </a:r>
          </a:p>
        </p:txBody>
      </p:sp>
      <p:sp>
        <p:nvSpPr>
          <p:cNvPr id="9" name="Rounded Rectangle 8"/>
          <p:cNvSpPr/>
          <p:nvPr/>
        </p:nvSpPr>
        <p:spPr>
          <a:xfrm>
            <a:off x="4334256" y="2761488"/>
            <a:ext cx="3520439" cy="3209544"/>
          </a:xfrm>
          <a:prstGeom prst="roundRect">
            <a:avLst>
              <a:gd name="adj" fmla="val 7000"/>
            </a:avLst>
          </a:prstGeom>
          <a:solidFill>
            <a:srgbClr val="1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17136" y="2935224"/>
            <a:ext cx="3154679" cy="411480"/>
          </a:xfrm>
          <a:prstGeom prst="rect">
            <a:avLst/>
          </a:prstGeom>
          <a:noFill/>
        </p:spPr>
        <p:txBody>
          <a:bodyPr wrap="square" lIns="36576" tIns="0" rIns="36576" bIns="0">
            <a:spAutoFit/>
          </a:bodyPr>
          <a:lstStyle/>
          <a:p>
            <a:pPr algn="r" rtl="1">
              <a:spcAft>
                <a:spcPts val="600"/>
              </a:spcAft>
            </a:pPr>
            <a:r>
              <a:rPr lang="ar-JO" sz="2300" b="1">
                <a:solidFill>
                  <a:srgbClr val="66D7C4"/>
                </a:solidFill>
                <a:latin typeface="Tahoma"/>
                <a:ea typeface="Tahoma"/>
                <a:cs typeface="Tahoma"/>
              </a:rPr>
              <a:t>عمل المستخدم</a:t>
            </a:r>
          </a:p>
        </p:txBody>
      </p:sp>
      <p:sp>
        <p:nvSpPr>
          <p:cNvPr id="11" name="TextBox 10"/>
          <p:cNvSpPr txBox="1"/>
          <p:nvPr/>
        </p:nvSpPr>
        <p:spPr>
          <a:xfrm>
            <a:off x="4517136" y="3456432"/>
            <a:ext cx="3154679" cy="2441448"/>
          </a:xfrm>
          <a:prstGeom prst="rect">
            <a:avLst/>
          </a:prstGeom>
          <a:noFill/>
        </p:spPr>
        <p:txBody>
          <a:bodyPr wrap="square" lIns="36576" tIns="0" rIns="36576" bIns="0">
            <a:spAutoFit/>
          </a:bodyPr>
          <a:lstStyle/>
          <a:p>
            <a:pPr algn="r" rtl="1">
              <a:spcAft>
                <a:spcPts val="600"/>
              </a:spcAft>
            </a:pPr>
            <a:r>
              <a:rPr lang="ar-JO" sz="2100" b="0">
                <a:solidFill>
                  <a:srgbClr val="F4F8FA"/>
                </a:solidFill>
                <a:latin typeface="Tahoma"/>
                <a:ea typeface="Tahoma"/>
                <a:cs typeface="Tahoma"/>
              </a:rPr>
              <a:t>interactions + checklists: مفتاح تدفق فريد، وقائمة لكل حساب وحالة.</a:t>
            </a:r>
          </a:p>
        </p:txBody>
      </p:sp>
      <p:sp>
        <p:nvSpPr>
          <p:cNvPr id="12" name="Rounded Rectangle 11"/>
          <p:cNvSpPr/>
          <p:nvPr/>
        </p:nvSpPr>
        <p:spPr>
          <a:xfrm>
            <a:off x="594360" y="2761488"/>
            <a:ext cx="3520439" cy="3209544"/>
          </a:xfrm>
          <a:prstGeom prst="roundRect">
            <a:avLst>
              <a:gd name="adj" fmla="val 7000"/>
            </a:avLst>
          </a:prstGeom>
          <a:solidFill>
            <a:srgbClr val="1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7240" y="2935224"/>
            <a:ext cx="3154679" cy="411480"/>
          </a:xfrm>
          <a:prstGeom prst="rect">
            <a:avLst/>
          </a:prstGeom>
          <a:noFill/>
        </p:spPr>
        <p:txBody>
          <a:bodyPr wrap="square" lIns="36576" tIns="0" rIns="36576" bIns="0">
            <a:spAutoFit/>
          </a:bodyPr>
          <a:lstStyle/>
          <a:p>
            <a:pPr algn="r" rtl="1">
              <a:spcAft>
                <a:spcPts val="600"/>
              </a:spcAft>
            </a:pPr>
            <a:r>
              <a:rPr lang="ar-JO" sz="2300" b="1">
                <a:solidFill>
                  <a:srgbClr val="66D7C4"/>
                </a:solidFill>
                <a:latin typeface="Tahoma"/>
                <a:ea typeface="Tahoma"/>
                <a:cs typeface="Tahoma"/>
              </a:rPr>
              <a:t>الدعم والإدارة</a:t>
            </a:r>
          </a:p>
        </p:txBody>
      </p:sp>
      <p:sp>
        <p:nvSpPr>
          <p:cNvPr id="14" name="TextBox 13"/>
          <p:cNvSpPr txBox="1"/>
          <p:nvPr/>
        </p:nvSpPr>
        <p:spPr>
          <a:xfrm>
            <a:off x="777240" y="3456432"/>
            <a:ext cx="3154679" cy="2441448"/>
          </a:xfrm>
          <a:prstGeom prst="rect">
            <a:avLst/>
          </a:prstGeom>
          <a:noFill/>
        </p:spPr>
        <p:txBody>
          <a:bodyPr wrap="square" lIns="36576" tIns="0" rIns="36576" bIns="0">
            <a:spAutoFit/>
          </a:bodyPr>
          <a:lstStyle/>
          <a:p>
            <a:pPr algn="r" rtl="1">
              <a:spcAft>
                <a:spcPts val="600"/>
              </a:spcAft>
            </a:pPr>
            <a:r>
              <a:rPr lang="ar-JO" sz="2100" b="0">
                <a:solidFill>
                  <a:srgbClr val="F4F8FA"/>
                </a:solidFill>
                <a:latin typeface="Tahoma"/>
                <a:ea typeface="Tahoma"/>
                <a:cs typeface="Tahoma"/>
              </a:rPr>
              <a:t>support_tickets + admin_audit: رسائل وردود وسجل إجراءات المدير.</a:t>
            </a:r>
          </a:p>
        </p:txBody>
      </p:sp>
      <p:sp>
        <p:nvSpPr>
          <p:cNvPr id="15" name="Rectangle 14"/>
          <p:cNvSpPr/>
          <p:nvPr/>
        </p:nvSpPr>
        <p:spPr>
          <a:xfrm>
            <a:off x="594360" y="6437376"/>
            <a:ext cx="11000232" cy="10972"/>
          </a:xfrm>
          <a:prstGeom prst="rect">
            <a:avLst/>
          </a:prstGeom>
          <a:solidFill>
            <a:srgbClr val="2941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212080" y="6547104"/>
            <a:ext cx="6355080" cy="210312"/>
          </a:xfrm>
          <a:prstGeom prst="rect">
            <a:avLst/>
          </a:prstGeom>
          <a:noFill/>
        </p:spPr>
        <p:txBody>
          <a:bodyPr wrap="square" lIns="36576" tIns="0" rIns="36576" bIns="0">
            <a:spAutoFit/>
          </a:bodyPr>
          <a:lstStyle/>
          <a:p>
            <a:pPr algn="r" rtl="1">
              <a:spcAft>
                <a:spcPts val="600"/>
              </a:spcAft>
            </a:pPr>
            <a:r>
              <a:rPr lang="ar-JO" sz="1000" b="0">
                <a:solidFill>
                  <a:srgbClr val="B9CCD8"/>
                </a:solidFill>
                <a:latin typeface="Tahoma"/>
                <a:ea typeface="Tahoma"/>
                <a:cs typeface="Tahoma"/>
              </a:rPr>
              <a:t>Mustanad Jo  |  MVP إرشادي · معايير 5–8</a:t>
            </a:r>
          </a:p>
        </p:txBody>
      </p:sp>
      <p:sp>
        <p:nvSpPr>
          <p:cNvPr id="17" name="TextBox 16"/>
          <p:cNvSpPr txBox="1"/>
          <p:nvPr/>
        </p:nvSpPr>
        <p:spPr>
          <a:xfrm>
            <a:off x="594360" y="6547104"/>
            <a:ext cx="1828800" cy="210312"/>
          </a:xfrm>
          <a:prstGeom prst="rect">
            <a:avLst/>
          </a:prstGeom>
          <a:noFill/>
        </p:spPr>
        <p:txBody>
          <a:bodyPr wrap="square" lIns="36576" tIns="0" rIns="36576" bIns="0">
            <a:spAutoFit/>
          </a:bodyPr>
          <a:lstStyle/>
          <a:p>
            <a:pPr algn="r" rtl="1">
              <a:spcAft>
                <a:spcPts val="600"/>
              </a:spcAft>
            </a:pPr>
            <a:r>
              <a:rPr lang="ar-JO" sz="1000" b="0">
                <a:solidFill>
                  <a:srgbClr val="B9CCD8"/>
                </a:solidFill>
                <a:latin typeface="Tahoma"/>
                <a:ea typeface="Tahoma"/>
                <a:cs typeface="Tahoma"/>
              </a:rPr>
              <a:t>الشريحة 10 من 17</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1926"/>
        </a:solidFill>
        <a:effectLst/>
      </p:bgPr>
    </p:bg>
    <p:spTree>
      <p:nvGrpSpPr>
        <p:cNvPr id="1" name=""/>
        <p:cNvGrpSpPr/>
        <p:nvPr/>
      </p:nvGrpSpPr>
      <p:grpSpPr>
        <a:xfrm>
          <a:off x="0" y="0"/>
          <a:ext cx="0" cy="0"/>
          <a:chOff x="0" y="0"/>
          <a:chExt cx="0" cy="0"/>
        </a:xfrm>
      </p:grpSpPr>
      <p:sp>
        <p:nvSpPr>
          <p:cNvPr id="2" name="Rectangle 1"/>
          <p:cNvSpPr/>
          <p:nvPr/>
        </p:nvSpPr>
        <p:spPr>
          <a:xfrm>
            <a:off x="11539728" y="484632"/>
            <a:ext cx="54864" cy="1417320"/>
          </a:xfrm>
          <a:prstGeom prst="rect">
            <a:avLst/>
          </a:prstGeom>
          <a:solidFill>
            <a:srgbClr val="66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57200"/>
            <a:ext cx="10881360" cy="365760"/>
          </a:xfrm>
          <a:prstGeom prst="rect">
            <a:avLst/>
          </a:prstGeom>
          <a:noFill/>
        </p:spPr>
        <p:txBody>
          <a:bodyPr wrap="square" lIns="36576" tIns="0" rIns="36576" bIns="0">
            <a:spAutoFit/>
          </a:bodyPr>
          <a:lstStyle/>
          <a:p>
            <a:pPr algn="r" rtl="1">
              <a:spcAft>
                <a:spcPts val="600"/>
              </a:spcAft>
            </a:pPr>
            <a:r>
              <a:rPr lang="ar-JO" sz="1500" b="0">
                <a:solidFill>
                  <a:srgbClr val="66D7C4"/>
                </a:solidFill>
                <a:latin typeface="Tahoma"/>
                <a:ea typeface="Tahoma"/>
                <a:cs typeface="Tahoma"/>
              </a:rPr>
              <a:t>7 · الأمان والحالات الحدودية</a:t>
            </a:r>
          </a:p>
        </p:txBody>
      </p:sp>
      <p:sp>
        <p:nvSpPr>
          <p:cNvPr id="4" name="TextBox 3"/>
          <p:cNvSpPr txBox="1"/>
          <p:nvPr/>
        </p:nvSpPr>
        <p:spPr>
          <a:xfrm>
            <a:off x="548640" y="932688"/>
            <a:ext cx="10881360" cy="640080"/>
          </a:xfrm>
          <a:prstGeom prst="rect">
            <a:avLst/>
          </a:prstGeom>
          <a:noFill/>
        </p:spPr>
        <p:txBody>
          <a:bodyPr wrap="square" lIns="36576" tIns="0" rIns="36576" bIns="0">
            <a:spAutoFit/>
          </a:bodyPr>
          <a:lstStyle/>
          <a:p>
            <a:pPr algn="r" rtl="1">
              <a:spcAft>
                <a:spcPts val="600"/>
              </a:spcAft>
            </a:pPr>
            <a:r>
              <a:rPr lang="ar-JO" sz="3400" b="1">
                <a:solidFill>
                  <a:srgbClr val="F4F8FA"/>
                </a:solidFill>
                <a:latin typeface="Tahoma"/>
                <a:ea typeface="Tahoma"/>
                <a:cs typeface="Tahoma"/>
              </a:rPr>
              <a:t>الوصول يُفحص على الخادم</a:t>
            </a:r>
          </a:p>
        </p:txBody>
      </p:sp>
      <p:sp>
        <p:nvSpPr>
          <p:cNvPr id="5" name="TextBox 4"/>
          <p:cNvSpPr txBox="1"/>
          <p:nvPr/>
        </p:nvSpPr>
        <p:spPr>
          <a:xfrm>
            <a:off x="548640" y="1700784"/>
            <a:ext cx="10972800" cy="777240"/>
          </a:xfrm>
          <a:prstGeom prst="rect">
            <a:avLst/>
          </a:prstGeom>
          <a:noFill/>
        </p:spPr>
        <p:txBody>
          <a:bodyPr wrap="square" lIns="36576" tIns="0" rIns="36576" bIns="0">
            <a:spAutoFit/>
          </a:bodyPr>
          <a:lstStyle/>
          <a:p>
            <a:pPr algn="r" rtl="1">
              <a:spcAft>
                <a:spcPts val="600"/>
              </a:spcAft>
            </a:pPr>
            <a:r>
              <a:rPr lang="ar-JO" sz="2000" b="0">
                <a:solidFill>
                  <a:srgbClr val="B9CCD8"/>
                </a:solidFill>
                <a:latin typeface="Tahoma"/>
                <a:ea typeface="Tahoma"/>
                <a:cs typeface="Tahoma"/>
              </a:rPr>
              <a:t>التوقيع وحده لا يكفي؛ تُراجع الجلسة والحساب وحالته وصلاحياته.</a:t>
            </a:r>
          </a:p>
        </p:txBody>
      </p:sp>
      <p:sp>
        <p:nvSpPr>
          <p:cNvPr id="6" name="Rounded Rectangle 5"/>
          <p:cNvSpPr/>
          <p:nvPr/>
        </p:nvSpPr>
        <p:spPr>
          <a:xfrm>
            <a:off x="8074152" y="2761488"/>
            <a:ext cx="3520439" cy="3209544"/>
          </a:xfrm>
          <a:prstGeom prst="roundRect">
            <a:avLst>
              <a:gd name="adj" fmla="val 7000"/>
            </a:avLst>
          </a:prstGeom>
          <a:solidFill>
            <a:srgbClr val="1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57031" y="2935224"/>
            <a:ext cx="3154679" cy="411480"/>
          </a:xfrm>
          <a:prstGeom prst="rect">
            <a:avLst/>
          </a:prstGeom>
          <a:noFill/>
        </p:spPr>
        <p:txBody>
          <a:bodyPr wrap="square" lIns="36576" tIns="0" rIns="36576" bIns="0">
            <a:spAutoFit/>
          </a:bodyPr>
          <a:lstStyle/>
          <a:p>
            <a:pPr algn="r" rtl="1">
              <a:spcAft>
                <a:spcPts val="600"/>
              </a:spcAft>
            </a:pPr>
            <a:r>
              <a:rPr lang="ar-JO" sz="2300" b="1">
                <a:solidFill>
                  <a:srgbClr val="66D7C4"/>
                </a:solidFill>
                <a:latin typeface="Tahoma"/>
                <a:ea typeface="Tahoma"/>
                <a:cs typeface="Tahoma"/>
              </a:rPr>
              <a:t>عزل وصلاحيات</a:t>
            </a:r>
          </a:p>
        </p:txBody>
      </p:sp>
      <p:sp>
        <p:nvSpPr>
          <p:cNvPr id="8" name="TextBox 7"/>
          <p:cNvSpPr txBox="1"/>
          <p:nvPr/>
        </p:nvSpPr>
        <p:spPr>
          <a:xfrm>
            <a:off x="8257031" y="3456432"/>
            <a:ext cx="3154679" cy="2441448"/>
          </a:xfrm>
          <a:prstGeom prst="rect">
            <a:avLst/>
          </a:prstGeom>
          <a:noFill/>
        </p:spPr>
        <p:txBody>
          <a:bodyPr wrap="square" lIns="36576" tIns="0" rIns="36576" bIns="0">
            <a:spAutoFit/>
          </a:bodyPr>
          <a:lstStyle/>
          <a:p>
            <a:pPr algn="r" rtl="1">
              <a:spcAft>
                <a:spcPts val="600"/>
              </a:spcAft>
            </a:pPr>
            <a:r>
              <a:rPr lang="ar-JO" sz="2100" b="0">
                <a:solidFill>
                  <a:srgbClr val="F4F8FA"/>
                </a:solidFill>
                <a:latin typeface="Tahoma"/>
                <a:ea typeface="Tahoma"/>
                <a:cs typeface="Tahoma"/>
              </a:rPr>
              <a:t>المستخدم يرى سجله ودعمه؛ التسجيل لا يمنح admin؛ وظائف المدير محمية.</a:t>
            </a:r>
          </a:p>
        </p:txBody>
      </p:sp>
      <p:sp>
        <p:nvSpPr>
          <p:cNvPr id="9" name="Rounded Rectangle 8"/>
          <p:cNvSpPr/>
          <p:nvPr/>
        </p:nvSpPr>
        <p:spPr>
          <a:xfrm>
            <a:off x="4334256" y="2761488"/>
            <a:ext cx="3520439" cy="3209544"/>
          </a:xfrm>
          <a:prstGeom prst="roundRect">
            <a:avLst>
              <a:gd name="adj" fmla="val 7000"/>
            </a:avLst>
          </a:prstGeom>
          <a:solidFill>
            <a:srgbClr val="1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17136" y="2935224"/>
            <a:ext cx="3154679" cy="411480"/>
          </a:xfrm>
          <a:prstGeom prst="rect">
            <a:avLst/>
          </a:prstGeom>
          <a:noFill/>
        </p:spPr>
        <p:txBody>
          <a:bodyPr wrap="square" lIns="36576" tIns="0" rIns="36576" bIns="0">
            <a:spAutoFit/>
          </a:bodyPr>
          <a:lstStyle/>
          <a:p>
            <a:pPr algn="r" rtl="1">
              <a:spcAft>
                <a:spcPts val="600"/>
              </a:spcAft>
            </a:pPr>
            <a:r>
              <a:rPr lang="ar-JO" sz="2300" b="1">
                <a:solidFill>
                  <a:srgbClr val="66D7C4"/>
                </a:solidFill>
                <a:latin typeface="Tahoma"/>
                <a:ea typeface="Tahoma"/>
                <a:cs typeface="Tahoma"/>
              </a:rPr>
              <a:t>إبطال الوصول</a:t>
            </a:r>
          </a:p>
        </p:txBody>
      </p:sp>
      <p:sp>
        <p:nvSpPr>
          <p:cNvPr id="11" name="TextBox 10"/>
          <p:cNvSpPr txBox="1"/>
          <p:nvPr/>
        </p:nvSpPr>
        <p:spPr>
          <a:xfrm>
            <a:off x="4517136" y="3456432"/>
            <a:ext cx="3154679" cy="2441448"/>
          </a:xfrm>
          <a:prstGeom prst="rect">
            <a:avLst/>
          </a:prstGeom>
          <a:noFill/>
        </p:spPr>
        <p:txBody>
          <a:bodyPr wrap="square" lIns="36576" tIns="0" rIns="36576" bIns="0">
            <a:spAutoFit/>
          </a:bodyPr>
          <a:lstStyle/>
          <a:p>
            <a:pPr algn="r" rtl="1">
              <a:spcAft>
                <a:spcPts val="600"/>
              </a:spcAft>
            </a:pPr>
            <a:r>
              <a:rPr lang="ar-JO" sz="2100" b="0">
                <a:solidFill>
                  <a:srgbClr val="F4F8FA"/>
                </a:solidFill>
                <a:latin typeface="Tahoma"/>
                <a:ea typeface="Tahoma"/>
                <a:cs typeface="Tahoma"/>
              </a:rPr>
              <a:t>الحظر والتعليق وتغيير الدور والخروج تُبطل الجلسات القديمة.</a:t>
            </a:r>
          </a:p>
        </p:txBody>
      </p:sp>
      <p:sp>
        <p:nvSpPr>
          <p:cNvPr id="12" name="Rounded Rectangle 11"/>
          <p:cNvSpPr/>
          <p:nvPr/>
        </p:nvSpPr>
        <p:spPr>
          <a:xfrm>
            <a:off x="594360" y="2761488"/>
            <a:ext cx="3520439" cy="3209544"/>
          </a:xfrm>
          <a:prstGeom prst="roundRect">
            <a:avLst>
              <a:gd name="adj" fmla="val 7000"/>
            </a:avLst>
          </a:prstGeom>
          <a:solidFill>
            <a:srgbClr val="1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7240" y="2935224"/>
            <a:ext cx="3154679" cy="411480"/>
          </a:xfrm>
          <a:prstGeom prst="rect">
            <a:avLst/>
          </a:prstGeom>
          <a:noFill/>
        </p:spPr>
        <p:txBody>
          <a:bodyPr wrap="square" lIns="36576" tIns="0" rIns="36576" bIns="0">
            <a:spAutoFit/>
          </a:bodyPr>
          <a:lstStyle/>
          <a:p>
            <a:pPr algn="r" rtl="1">
              <a:spcAft>
                <a:spcPts val="600"/>
              </a:spcAft>
            </a:pPr>
            <a:r>
              <a:rPr lang="ar-JO" sz="2300" b="1">
                <a:solidFill>
                  <a:srgbClr val="66D7C4"/>
                </a:solidFill>
                <a:latin typeface="Tahoma"/>
                <a:ea typeface="Tahoma"/>
                <a:cs typeface="Tahoma"/>
              </a:rPr>
              <a:t>حالات اختبار مهمة</a:t>
            </a:r>
          </a:p>
        </p:txBody>
      </p:sp>
      <p:sp>
        <p:nvSpPr>
          <p:cNvPr id="14" name="TextBox 13"/>
          <p:cNvSpPr txBox="1"/>
          <p:nvPr/>
        </p:nvSpPr>
        <p:spPr>
          <a:xfrm>
            <a:off x="777240" y="3456432"/>
            <a:ext cx="3154679" cy="2441448"/>
          </a:xfrm>
          <a:prstGeom prst="rect">
            <a:avLst/>
          </a:prstGeom>
          <a:noFill/>
        </p:spPr>
        <p:txBody>
          <a:bodyPr wrap="square" lIns="36576" tIns="0" rIns="36576" bIns="0">
            <a:spAutoFit/>
          </a:bodyPr>
          <a:lstStyle/>
          <a:p>
            <a:pPr algn="r" rtl="1">
              <a:spcAft>
                <a:spcPts val="600"/>
              </a:spcAft>
            </a:pPr>
            <a:r>
              <a:rPr lang="ar-JO" sz="2100" b="0">
                <a:solidFill>
                  <a:srgbClr val="F4F8FA"/>
                </a:solidFill>
                <a:latin typeface="Tahoma"/>
                <a:ea typeface="Tahoma"/>
                <a:cs typeface="Tahoma"/>
              </a:rPr>
              <a:t>طلب مكرر، حساب محظور، نطاق مختلف، مدخل غامض، وغياب قاعدة البيانات.</a:t>
            </a:r>
          </a:p>
        </p:txBody>
      </p:sp>
      <p:sp>
        <p:nvSpPr>
          <p:cNvPr id="15" name="Rectangle 14"/>
          <p:cNvSpPr/>
          <p:nvPr/>
        </p:nvSpPr>
        <p:spPr>
          <a:xfrm>
            <a:off x="594360" y="6437376"/>
            <a:ext cx="11000232" cy="10972"/>
          </a:xfrm>
          <a:prstGeom prst="rect">
            <a:avLst/>
          </a:prstGeom>
          <a:solidFill>
            <a:srgbClr val="2941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212080" y="6547104"/>
            <a:ext cx="6355080" cy="210312"/>
          </a:xfrm>
          <a:prstGeom prst="rect">
            <a:avLst/>
          </a:prstGeom>
          <a:noFill/>
        </p:spPr>
        <p:txBody>
          <a:bodyPr wrap="square" lIns="36576" tIns="0" rIns="36576" bIns="0">
            <a:spAutoFit/>
          </a:bodyPr>
          <a:lstStyle/>
          <a:p>
            <a:pPr algn="r" rtl="1">
              <a:spcAft>
                <a:spcPts val="600"/>
              </a:spcAft>
            </a:pPr>
            <a:r>
              <a:rPr lang="ar-JO" sz="1000" b="0">
                <a:solidFill>
                  <a:srgbClr val="B9CCD8"/>
                </a:solidFill>
                <a:latin typeface="Tahoma"/>
                <a:ea typeface="Tahoma"/>
                <a:cs typeface="Tahoma"/>
              </a:rPr>
              <a:t>Mustanad Jo  |  MVP إرشادي · معايير 5–8</a:t>
            </a:r>
          </a:p>
        </p:txBody>
      </p:sp>
      <p:sp>
        <p:nvSpPr>
          <p:cNvPr id="17" name="TextBox 16"/>
          <p:cNvSpPr txBox="1"/>
          <p:nvPr/>
        </p:nvSpPr>
        <p:spPr>
          <a:xfrm>
            <a:off x="594360" y="6547104"/>
            <a:ext cx="1828800" cy="210312"/>
          </a:xfrm>
          <a:prstGeom prst="rect">
            <a:avLst/>
          </a:prstGeom>
          <a:noFill/>
        </p:spPr>
        <p:txBody>
          <a:bodyPr wrap="square" lIns="36576" tIns="0" rIns="36576" bIns="0">
            <a:spAutoFit/>
          </a:bodyPr>
          <a:lstStyle/>
          <a:p>
            <a:pPr algn="r" rtl="1">
              <a:spcAft>
                <a:spcPts val="600"/>
              </a:spcAft>
            </a:pPr>
            <a:r>
              <a:rPr lang="ar-JO" sz="1000" b="0">
                <a:solidFill>
                  <a:srgbClr val="B9CCD8"/>
                </a:solidFill>
                <a:latin typeface="Tahoma"/>
                <a:ea typeface="Tahoma"/>
                <a:cs typeface="Tahoma"/>
              </a:rPr>
              <a:t>الشريحة 11 من 17</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B1926"/>
        </a:solidFill>
        <a:effectLst/>
      </p:bgPr>
    </p:bg>
    <p:spTree>
      <p:nvGrpSpPr>
        <p:cNvPr id="1" name=""/>
        <p:cNvGrpSpPr/>
        <p:nvPr/>
      </p:nvGrpSpPr>
      <p:grpSpPr>
        <a:xfrm>
          <a:off x="0" y="0"/>
          <a:ext cx="0" cy="0"/>
          <a:chOff x="0" y="0"/>
          <a:chExt cx="0" cy="0"/>
        </a:xfrm>
      </p:grpSpPr>
      <p:sp>
        <p:nvSpPr>
          <p:cNvPr id="2" name="Rectangle 1"/>
          <p:cNvSpPr/>
          <p:nvPr/>
        </p:nvSpPr>
        <p:spPr>
          <a:xfrm>
            <a:off x="11539728" y="484632"/>
            <a:ext cx="54864" cy="1417320"/>
          </a:xfrm>
          <a:prstGeom prst="rect">
            <a:avLst/>
          </a:prstGeom>
          <a:solidFill>
            <a:srgbClr val="66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57200"/>
            <a:ext cx="10881360" cy="365760"/>
          </a:xfrm>
          <a:prstGeom prst="rect">
            <a:avLst/>
          </a:prstGeom>
          <a:noFill/>
        </p:spPr>
        <p:txBody>
          <a:bodyPr wrap="square" lIns="27432" tIns="0" rIns="27432" bIns="0">
            <a:spAutoFit/>
          </a:bodyPr>
          <a:lstStyle/>
          <a:p>
            <a:pPr algn="r" rtl="1"/>
            <a:r>
              <a:rPr lang="ar-JO" sz="1500" b="0">
                <a:solidFill>
                  <a:srgbClr val="66D7C4"/>
                </a:solidFill>
                <a:latin typeface="Tahoma"/>
                <a:ea typeface="Tahoma"/>
                <a:cs typeface="Tahoma"/>
              </a:rPr>
              <a:t>Current strengths · نقاط قوة النسخة الحالية</a:t>
            </a:r>
          </a:p>
        </p:txBody>
      </p:sp>
      <p:sp>
        <p:nvSpPr>
          <p:cNvPr id="4" name="TextBox 3"/>
          <p:cNvSpPr txBox="1"/>
          <p:nvPr/>
        </p:nvSpPr>
        <p:spPr>
          <a:xfrm>
            <a:off x="6629400" y="932688"/>
            <a:ext cx="4800600" cy="685800"/>
          </a:xfrm>
          <a:prstGeom prst="rect">
            <a:avLst/>
          </a:prstGeom>
          <a:noFill/>
        </p:spPr>
        <p:txBody>
          <a:bodyPr wrap="square" lIns="27432" tIns="0" rIns="27432" bIns="0">
            <a:spAutoFit/>
          </a:bodyPr>
          <a:lstStyle/>
          <a:p>
            <a:pPr algn="r" rtl="1"/>
            <a:r>
              <a:rPr lang="ar-JO" sz="3200" b="1">
                <a:solidFill>
                  <a:srgbClr val="F4F8FA"/>
                </a:solidFill>
                <a:latin typeface="Tahoma"/>
                <a:ea typeface="Tahoma"/>
                <a:cs typeface="Tahoma"/>
              </a:rPr>
              <a:t>نقاط القوة —</a:t>
            </a:r>
          </a:p>
        </p:txBody>
      </p:sp>
      <p:sp>
        <p:nvSpPr>
          <p:cNvPr id="5" name="TextBox 4"/>
          <p:cNvSpPr txBox="1"/>
          <p:nvPr/>
        </p:nvSpPr>
        <p:spPr>
          <a:xfrm>
            <a:off x="548640" y="932688"/>
            <a:ext cx="5943600" cy="685800"/>
          </a:xfrm>
          <a:prstGeom prst="rect">
            <a:avLst/>
          </a:prstGeom>
          <a:noFill/>
        </p:spPr>
        <p:txBody>
          <a:bodyPr wrap="square" lIns="27432" tIns="0" rIns="27432" bIns="0">
            <a:spAutoFit/>
          </a:bodyPr>
          <a:lstStyle/>
          <a:p>
            <a:pPr algn="r" rtl="0"/>
            <a:r>
              <a:rPr lang="en-US" sz="3000" b="1">
                <a:solidFill>
                  <a:srgbClr val="F4F8FA"/>
                </a:solidFill>
                <a:latin typeface="Tahoma"/>
                <a:ea typeface="Tahoma"/>
                <a:cs typeface="Tahoma"/>
              </a:rPr>
              <a:t>Why Mustanad Jo?</a:t>
            </a:r>
          </a:p>
        </p:txBody>
      </p:sp>
      <p:sp>
        <p:nvSpPr>
          <p:cNvPr id="6" name="TextBox 5"/>
          <p:cNvSpPr txBox="1"/>
          <p:nvPr/>
        </p:nvSpPr>
        <p:spPr>
          <a:xfrm>
            <a:off x="548640" y="1737360"/>
            <a:ext cx="10972800" cy="685800"/>
          </a:xfrm>
          <a:prstGeom prst="rect">
            <a:avLst/>
          </a:prstGeom>
          <a:noFill/>
        </p:spPr>
        <p:txBody>
          <a:bodyPr wrap="square" lIns="27432" tIns="0" rIns="27432" bIns="0">
            <a:spAutoFit/>
          </a:bodyPr>
          <a:lstStyle/>
          <a:p>
            <a:pPr algn="r" rtl="1"/>
            <a:r>
              <a:rPr lang="ar-JO" sz="1900" b="0">
                <a:solidFill>
                  <a:srgbClr val="B9CCD8"/>
                </a:solidFill>
                <a:latin typeface="Tahoma"/>
                <a:ea typeface="Tahoma"/>
                <a:cs typeface="Tahoma"/>
              </a:rPr>
              <a:t>قيمة ملموسة من الميزات الموجودة اليوم، وأساس واضح لزيادة قيمة المشروع.</a:t>
            </a:r>
          </a:p>
        </p:txBody>
      </p:sp>
      <p:sp>
        <p:nvSpPr>
          <p:cNvPr id="7" name="Rectangle 6"/>
          <p:cNvSpPr/>
          <p:nvPr/>
        </p:nvSpPr>
        <p:spPr>
          <a:xfrm>
            <a:off x="594360" y="6437376"/>
            <a:ext cx="11000232" cy="10972"/>
          </a:xfrm>
          <a:prstGeom prst="rect">
            <a:avLst/>
          </a:prstGeom>
          <a:solidFill>
            <a:srgbClr val="2941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80" y="6547104"/>
            <a:ext cx="6355080" cy="210312"/>
          </a:xfrm>
          <a:prstGeom prst="rect">
            <a:avLst/>
          </a:prstGeom>
          <a:noFill/>
        </p:spPr>
        <p:txBody>
          <a:bodyPr wrap="square" lIns="27432" tIns="0" rIns="27432" bIns="0">
            <a:spAutoFit/>
          </a:bodyPr>
          <a:lstStyle/>
          <a:p>
            <a:pPr algn="r" rtl="1"/>
            <a:r>
              <a:rPr lang="ar-JO" sz="1000" b="0">
                <a:solidFill>
                  <a:srgbClr val="B9CCD8"/>
                </a:solidFill>
                <a:latin typeface="Tahoma"/>
                <a:ea typeface="Tahoma"/>
                <a:cs typeface="Tahoma"/>
              </a:rPr>
              <a:t>Mustanad Jo  |  MVP إرشادي</a:t>
            </a:r>
          </a:p>
        </p:txBody>
      </p:sp>
      <p:sp>
        <p:nvSpPr>
          <p:cNvPr id="9" name="TextBox 8"/>
          <p:cNvSpPr txBox="1"/>
          <p:nvPr/>
        </p:nvSpPr>
        <p:spPr>
          <a:xfrm>
            <a:off x="594360" y="6547104"/>
            <a:ext cx="1828800" cy="210312"/>
          </a:xfrm>
          <a:prstGeom prst="rect">
            <a:avLst/>
          </a:prstGeom>
          <a:noFill/>
        </p:spPr>
        <p:txBody>
          <a:bodyPr wrap="square" lIns="27432" tIns="0" rIns="27432" bIns="0">
            <a:spAutoFit/>
          </a:bodyPr>
          <a:lstStyle/>
          <a:p>
            <a:pPr algn="r" rtl="1"/>
            <a:r>
              <a:rPr lang="ar-JO" sz="1000" b="0">
                <a:solidFill>
                  <a:srgbClr val="B9CCD8"/>
                </a:solidFill>
                <a:latin typeface="Tahoma"/>
                <a:ea typeface="Tahoma"/>
                <a:cs typeface="Tahoma"/>
              </a:rPr>
              <a:t>الشريحة 15 من 17</a:t>
            </a:r>
          </a:p>
        </p:txBody>
      </p:sp>
      <p:sp>
        <p:nvSpPr>
          <p:cNvPr id="10" name="Rounded Rectangle 9"/>
          <p:cNvSpPr/>
          <p:nvPr/>
        </p:nvSpPr>
        <p:spPr>
          <a:xfrm>
            <a:off x="8074152" y="2587752"/>
            <a:ext cx="3520440" cy="1417320"/>
          </a:xfrm>
          <a:prstGeom prst="roundRect">
            <a:avLst>
              <a:gd name="adj" fmla="val 7000"/>
            </a:avLst>
          </a:prstGeom>
          <a:solidFill>
            <a:srgbClr val="1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1027664" y="2734056"/>
            <a:ext cx="384048" cy="384048"/>
          </a:xfrm>
          <a:prstGeom prst="ellipse">
            <a:avLst/>
          </a:prstGeom>
          <a:solidFill>
            <a:srgbClr val="234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1109960" y="2816352"/>
            <a:ext cx="219456" cy="219456"/>
          </a:xfrm>
          <a:prstGeom prst="ellipse">
            <a:avLst/>
          </a:prstGeom>
          <a:noFill/>
          <a:ln>
            <a:solidFill>
              <a:srgbClr val="66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1164824" y="2871216"/>
            <a:ext cx="109728" cy="109728"/>
          </a:xfrm>
          <a:prstGeom prst="ellipse">
            <a:avLst/>
          </a:prstGeom>
          <a:noFill/>
          <a:ln>
            <a:solidFill>
              <a:srgbClr val="66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38744" y="2752344"/>
            <a:ext cx="2679192" cy="338328"/>
          </a:xfrm>
          <a:prstGeom prst="rect">
            <a:avLst/>
          </a:prstGeom>
          <a:noFill/>
        </p:spPr>
        <p:txBody>
          <a:bodyPr wrap="square" lIns="27432" tIns="0" rIns="27432" bIns="0">
            <a:spAutoFit/>
          </a:bodyPr>
          <a:lstStyle/>
          <a:p>
            <a:pPr algn="r" rtl="1"/>
            <a:r>
              <a:rPr lang="ar-JO" sz="1800" b="1">
                <a:solidFill>
                  <a:srgbClr val="66D7C4"/>
                </a:solidFill>
                <a:latin typeface="Tahoma"/>
                <a:ea typeface="Tahoma"/>
                <a:cs typeface="Tahoma"/>
              </a:rPr>
              <a:t>قيمة عملية</a:t>
            </a:r>
          </a:p>
        </p:txBody>
      </p:sp>
      <p:sp>
        <p:nvSpPr>
          <p:cNvPr id="15" name="TextBox 14"/>
          <p:cNvSpPr txBox="1"/>
          <p:nvPr/>
        </p:nvSpPr>
        <p:spPr>
          <a:xfrm>
            <a:off x="8238744" y="3218688"/>
            <a:ext cx="3191256" cy="713232"/>
          </a:xfrm>
          <a:prstGeom prst="rect">
            <a:avLst/>
          </a:prstGeom>
          <a:noFill/>
        </p:spPr>
        <p:txBody>
          <a:bodyPr wrap="square" lIns="27432" tIns="0" rIns="27432" bIns="0">
            <a:spAutoFit/>
          </a:bodyPr>
          <a:lstStyle/>
          <a:p>
            <a:pPr algn="r" rtl="1"/>
            <a:r>
              <a:rPr lang="ar-JO" sz="1600" b="0">
                <a:solidFill>
                  <a:srgbClr val="F4F8FA"/>
                </a:solidFill>
                <a:latin typeface="Tahoma"/>
                <a:ea typeface="Tahoma"/>
                <a:cs typeface="Tahoma"/>
              </a:rPr>
              <a:t>يحوّل فكرة المشروع إلى خطة واضحة وخطوات قابلة للمتابعة.</a:t>
            </a:r>
          </a:p>
        </p:txBody>
      </p:sp>
      <p:sp>
        <p:nvSpPr>
          <p:cNvPr id="16" name="Rounded Rectangle 15"/>
          <p:cNvSpPr/>
          <p:nvPr/>
        </p:nvSpPr>
        <p:spPr>
          <a:xfrm>
            <a:off x="4334256" y="2587752"/>
            <a:ext cx="3520440" cy="1417320"/>
          </a:xfrm>
          <a:prstGeom prst="roundRect">
            <a:avLst>
              <a:gd name="adj" fmla="val 7000"/>
            </a:avLst>
          </a:prstGeom>
          <a:solidFill>
            <a:srgbClr val="1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7287768" y="2734056"/>
            <a:ext cx="384048" cy="384048"/>
          </a:xfrm>
          <a:prstGeom prst="ellipse">
            <a:avLst/>
          </a:prstGeom>
          <a:solidFill>
            <a:srgbClr val="234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7360919" y="2825496"/>
            <a:ext cx="246888" cy="164592"/>
          </a:xfrm>
          <a:prstGeom prst="roundRect">
            <a:avLst>
              <a:gd name="adj" fmla="val 7000"/>
            </a:avLst>
          </a:prstGeom>
          <a:noFill/>
          <a:ln>
            <a:solidFill>
              <a:srgbClr val="66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9" name="Connector 18"/>
          <p:cNvCxnSpPr/>
          <p:nvPr/>
        </p:nvCxnSpPr>
        <p:spPr>
          <a:xfrm flipH="1">
            <a:off x="7379208" y="2990088"/>
            <a:ext cx="45719" cy="54864"/>
          </a:xfrm>
          <a:prstGeom prst="line">
            <a:avLst/>
          </a:prstGeom>
          <a:ln w="19050">
            <a:solidFill>
              <a:srgbClr val="66D7C4"/>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498848" y="2752344"/>
            <a:ext cx="2679192" cy="338328"/>
          </a:xfrm>
          <a:prstGeom prst="rect">
            <a:avLst/>
          </a:prstGeom>
          <a:noFill/>
        </p:spPr>
        <p:txBody>
          <a:bodyPr wrap="square" lIns="27432" tIns="0" rIns="27432" bIns="0">
            <a:spAutoFit/>
          </a:bodyPr>
          <a:lstStyle/>
          <a:p>
            <a:pPr algn="r" rtl="1"/>
            <a:r>
              <a:rPr lang="ar-JO" sz="1800" b="1">
                <a:solidFill>
                  <a:srgbClr val="66D7C4"/>
                </a:solidFill>
                <a:latin typeface="Tahoma"/>
                <a:ea typeface="Tahoma"/>
                <a:cs typeface="Tahoma"/>
              </a:rPr>
              <a:t>تجربة عربية متكاملة</a:t>
            </a:r>
          </a:p>
        </p:txBody>
      </p:sp>
      <p:sp>
        <p:nvSpPr>
          <p:cNvPr id="21" name="TextBox 20"/>
          <p:cNvSpPr txBox="1"/>
          <p:nvPr/>
        </p:nvSpPr>
        <p:spPr>
          <a:xfrm>
            <a:off x="4498848" y="3218688"/>
            <a:ext cx="3191256" cy="713232"/>
          </a:xfrm>
          <a:prstGeom prst="rect">
            <a:avLst/>
          </a:prstGeom>
          <a:noFill/>
        </p:spPr>
        <p:txBody>
          <a:bodyPr wrap="square" lIns="27432" tIns="0" rIns="27432" bIns="0">
            <a:spAutoFit/>
          </a:bodyPr>
          <a:lstStyle/>
          <a:p>
            <a:pPr algn="r" rtl="1"/>
            <a:r>
              <a:rPr lang="ar-JO" sz="1600" b="0">
                <a:solidFill>
                  <a:srgbClr val="F4F8FA"/>
                </a:solidFill>
                <a:latin typeface="Tahoma"/>
                <a:ea typeface="Tahoma"/>
                <a:cs typeface="Tahoma"/>
              </a:rPr>
              <a:t>تجمع الإرشاد والتخطيط وحفظ التقدّم والدعم في منصة واحدة.</a:t>
            </a:r>
          </a:p>
        </p:txBody>
      </p:sp>
      <p:sp>
        <p:nvSpPr>
          <p:cNvPr id="22" name="Rounded Rectangle 21"/>
          <p:cNvSpPr/>
          <p:nvPr/>
        </p:nvSpPr>
        <p:spPr>
          <a:xfrm>
            <a:off x="594360" y="2587752"/>
            <a:ext cx="3520440" cy="1417320"/>
          </a:xfrm>
          <a:prstGeom prst="roundRect">
            <a:avLst>
              <a:gd name="adj" fmla="val 7000"/>
            </a:avLst>
          </a:prstGeom>
          <a:solidFill>
            <a:srgbClr val="1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3547872" y="2734056"/>
            <a:ext cx="384048" cy="384048"/>
          </a:xfrm>
          <a:prstGeom prst="ellipse">
            <a:avLst/>
          </a:prstGeom>
          <a:solidFill>
            <a:srgbClr val="234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3607308" y="2816352"/>
            <a:ext cx="128016" cy="210312"/>
          </a:xfrm>
          <a:prstGeom prst="rect">
            <a:avLst/>
          </a:prstGeom>
          <a:noFill/>
          <a:ln>
            <a:solidFill>
              <a:srgbClr val="66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3744468" y="2816352"/>
            <a:ext cx="128016" cy="210312"/>
          </a:xfrm>
          <a:prstGeom prst="rect">
            <a:avLst/>
          </a:prstGeom>
          <a:noFill/>
          <a:ln>
            <a:solidFill>
              <a:srgbClr val="66D7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6" name="Connector 25"/>
          <p:cNvCxnSpPr/>
          <p:nvPr/>
        </p:nvCxnSpPr>
        <p:spPr>
          <a:xfrm>
            <a:off x="3739896" y="2816352"/>
            <a:ext cx="0" cy="228600"/>
          </a:xfrm>
          <a:prstGeom prst="line">
            <a:avLst/>
          </a:prstGeom>
          <a:ln w="19050">
            <a:solidFill>
              <a:srgbClr val="66D7C4"/>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58952" y="2752344"/>
            <a:ext cx="2679192" cy="338328"/>
          </a:xfrm>
          <a:prstGeom prst="rect">
            <a:avLst/>
          </a:prstGeom>
          <a:noFill/>
        </p:spPr>
        <p:txBody>
          <a:bodyPr wrap="square" lIns="27432" tIns="0" rIns="27432" bIns="0">
            <a:spAutoFit/>
          </a:bodyPr>
          <a:lstStyle/>
          <a:p>
            <a:pPr algn="r" rtl="1"/>
            <a:r>
              <a:rPr lang="ar-JO" sz="1800" b="1">
                <a:solidFill>
                  <a:srgbClr val="66D7C4"/>
                </a:solidFill>
                <a:latin typeface="Tahoma"/>
                <a:ea typeface="Tahoma"/>
                <a:cs typeface="Tahoma"/>
              </a:rPr>
              <a:t>إجابات مرتبطة بالمصادر</a:t>
            </a:r>
          </a:p>
        </p:txBody>
      </p:sp>
      <p:sp>
        <p:nvSpPr>
          <p:cNvPr id="28" name="TextBox 27"/>
          <p:cNvSpPr txBox="1"/>
          <p:nvPr/>
        </p:nvSpPr>
        <p:spPr>
          <a:xfrm>
            <a:off x="758952" y="3218688"/>
            <a:ext cx="3191256" cy="713232"/>
          </a:xfrm>
          <a:prstGeom prst="rect">
            <a:avLst/>
          </a:prstGeom>
          <a:noFill/>
        </p:spPr>
        <p:txBody>
          <a:bodyPr wrap="square" lIns="27432" tIns="0" rIns="27432" bIns="0">
            <a:spAutoFit/>
          </a:bodyPr>
          <a:lstStyle/>
          <a:p>
            <a:pPr algn="r" rtl="1"/>
            <a:r>
              <a:rPr lang="ar-JO" sz="1600" b="0">
                <a:solidFill>
                  <a:srgbClr val="F4F8FA"/>
                </a:solidFill>
                <a:latin typeface="Tahoma"/>
                <a:ea typeface="Tahoma"/>
                <a:cs typeface="Tahoma"/>
              </a:rPr>
              <a:t>تساعد المستخدم على فهم المعلومات والرجوع إلى مرجعها.</a:t>
            </a:r>
          </a:p>
        </p:txBody>
      </p:sp>
      <p:sp>
        <p:nvSpPr>
          <p:cNvPr id="29" name="Rounded Rectangle 28"/>
          <p:cNvSpPr/>
          <p:nvPr/>
        </p:nvSpPr>
        <p:spPr>
          <a:xfrm>
            <a:off x="6208776" y="4261104"/>
            <a:ext cx="5385816" cy="1499616"/>
          </a:xfrm>
          <a:prstGeom prst="roundRect">
            <a:avLst>
              <a:gd name="adj" fmla="val 7000"/>
            </a:avLst>
          </a:prstGeom>
          <a:solidFill>
            <a:srgbClr val="1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11027664" y="4407408"/>
            <a:ext cx="384048" cy="384048"/>
          </a:xfrm>
          <a:prstGeom prst="ellipse">
            <a:avLst/>
          </a:prstGeom>
          <a:solidFill>
            <a:srgbClr val="234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1" name="Connector 30"/>
          <p:cNvCxnSpPr/>
          <p:nvPr/>
        </p:nvCxnSpPr>
        <p:spPr>
          <a:xfrm flipH="1">
            <a:off x="11091672" y="4526280"/>
            <a:ext cx="64008" cy="73152"/>
          </a:xfrm>
          <a:prstGeom prst="line">
            <a:avLst/>
          </a:prstGeom>
          <a:ln w="19050">
            <a:solidFill>
              <a:srgbClr val="66D7C4"/>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1091672" y="4599432"/>
            <a:ext cx="64008" cy="73152"/>
          </a:xfrm>
          <a:prstGeom prst="line">
            <a:avLst/>
          </a:prstGeom>
          <a:ln w="19050">
            <a:solidFill>
              <a:srgbClr val="66D7C4"/>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1283696" y="4526280"/>
            <a:ext cx="64008" cy="73152"/>
          </a:xfrm>
          <a:prstGeom prst="line">
            <a:avLst/>
          </a:prstGeom>
          <a:ln w="19050">
            <a:solidFill>
              <a:srgbClr val="66D7C4"/>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11283696" y="4599432"/>
            <a:ext cx="64008" cy="73152"/>
          </a:xfrm>
          <a:prstGeom prst="line">
            <a:avLst/>
          </a:prstGeom>
          <a:ln w="19050">
            <a:solidFill>
              <a:srgbClr val="66D7C4"/>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11192256" y="4498848"/>
            <a:ext cx="45720" cy="201168"/>
          </a:xfrm>
          <a:prstGeom prst="line">
            <a:avLst/>
          </a:prstGeom>
          <a:ln w="19050">
            <a:solidFill>
              <a:srgbClr val="66D7C4"/>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6373368" y="4425696"/>
            <a:ext cx="4544568" cy="338328"/>
          </a:xfrm>
          <a:prstGeom prst="rect">
            <a:avLst/>
          </a:prstGeom>
          <a:noFill/>
        </p:spPr>
        <p:txBody>
          <a:bodyPr wrap="square" lIns="27432" tIns="0" rIns="27432" bIns="0">
            <a:spAutoFit/>
          </a:bodyPr>
          <a:lstStyle/>
          <a:p>
            <a:pPr algn="r" rtl="1"/>
            <a:r>
              <a:rPr lang="ar-JO" sz="1800" b="1">
                <a:solidFill>
                  <a:srgbClr val="66D7C4"/>
                </a:solidFill>
                <a:latin typeface="Tahoma"/>
                <a:ea typeface="Tahoma"/>
                <a:cs typeface="Tahoma"/>
              </a:rPr>
              <a:t>مرونة تقنية</a:t>
            </a:r>
          </a:p>
        </p:txBody>
      </p:sp>
      <p:sp>
        <p:nvSpPr>
          <p:cNvPr id="37" name="TextBox 36"/>
          <p:cNvSpPr txBox="1"/>
          <p:nvPr/>
        </p:nvSpPr>
        <p:spPr>
          <a:xfrm>
            <a:off x="6373368" y="4892040"/>
            <a:ext cx="5056631" cy="795527"/>
          </a:xfrm>
          <a:prstGeom prst="rect">
            <a:avLst/>
          </a:prstGeom>
          <a:noFill/>
        </p:spPr>
        <p:txBody>
          <a:bodyPr wrap="square" lIns="27432" tIns="0" rIns="27432" bIns="0">
            <a:spAutoFit/>
          </a:bodyPr>
          <a:lstStyle/>
          <a:p>
            <a:pPr algn="r" rtl="1"/>
            <a:r>
              <a:rPr lang="ar-JO" sz="1600" b="0">
                <a:solidFill>
                  <a:srgbClr val="F4F8FA"/>
                </a:solidFill>
                <a:latin typeface="Tahoma"/>
                <a:ea typeface="Tahoma"/>
                <a:cs typeface="Tahoma"/>
              </a:rPr>
              <a:t>يستخدم نموذجًا مفتوح المصدر عبر Ollama، دون الحاجة إلى مفتاح API مدفوع في النسخة الحالية.</a:t>
            </a:r>
          </a:p>
        </p:txBody>
      </p:sp>
      <p:sp>
        <p:nvSpPr>
          <p:cNvPr id="38" name="Rounded Rectangle 37"/>
          <p:cNvSpPr/>
          <p:nvPr/>
        </p:nvSpPr>
        <p:spPr>
          <a:xfrm>
            <a:off x="594360" y="4261104"/>
            <a:ext cx="5394960" cy="1499616"/>
          </a:xfrm>
          <a:prstGeom prst="roundRect">
            <a:avLst>
              <a:gd name="adj" fmla="val 7000"/>
            </a:avLst>
          </a:prstGeom>
          <a:solidFill>
            <a:srgbClr val="1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5422392" y="4407408"/>
            <a:ext cx="384048" cy="384048"/>
          </a:xfrm>
          <a:prstGeom prst="ellipse">
            <a:avLst/>
          </a:prstGeom>
          <a:solidFill>
            <a:srgbClr val="234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5481828" y="4466844"/>
            <a:ext cx="64008" cy="64008"/>
          </a:xfrm>
          <a:prstGeom prst="ellipse">
            <a:avLst/>
          </a:prstGeom>
          <a:solidFill>
            <a:srgbClr val="66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5637276" y="4466844"/>
            <a:ext cx="64008" cy="64008"/>
          </a:xfrm>
          <a:prstGeom prst="ellipse">
            <a:avLst/>
          </a:prstGeom>
          <a:solidFill>
            <a:srgbClr val="66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5554980" y="4631436"/>
            <a:ext cx="64008" cy="64008"/>
          </a:xfrm>
          <a:prstGeom prst="ellipse">
            <a:avLst/>
          </a:prstGeom>
          <a:solidFill>
            <a:srgbClr val="66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3" name="Connector 42"/>
          <p:cNvCxnSpPr/>
          <p:nvPr/>
        </p:nvCxnSpPr>
        <p:spPr>
          <a:xfrm>
            <a:off x="5513832" y="4498848"/>
            <a:ext cx="155448" cy="0"/>
          </a:xfrm>
          <a:prstGeom prst="line">
            <a:avLst/>
          </a:prstGeom>
          <a:ln w="19050">
            <a:solidFill>
              <a:srgbClr val="66D7C4"/>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5513832" y="4498848"/>
            <a:ext cx="73152" cy="164592"/>
          </a:xfrm>
          <a:prstGeom prst="line">
            <a:avLst/>
          </a:prstGeom>
          <a:ln w="19050">
            <a:solidFill>
              <a:srgbClr val="66D7C4"/>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5586984" y="4498848"/>
            <a:ext cx="82296" cy="164592"/>
          </a:xfrm>
          <a:prstGeom prst="line">
            <a:avLst/>
          </a:prstGeom>
          <a:ln w="19050">
            <a:solidFill>
              <a:srgbClr val="66D7C4"/>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758952" y="4425696"/>
            <a:ext cx="4553712" cy="338328"/>
          </a:xfrm>
          <a:prstGeom prst="rect">
            <a:avLst/>
          </a:prstGeom>
          <a:noFill/>
        </p:spPr>
        <p:txBody>
          <a:bodyPr wrap="square" lIns="27432" tIns="0" rIns="27432" bIns="0">
            <a:spAutoFit/>
          </a:bodyPr>
          <a:lstStyle/>
          <a:p>
            <a:pPr algn="r" rtl="1"/>
            <a:r>
              <a:rPr lang="ar-JO" sz="1800" b="1">
                <a:solidFill>
                  <a:srgbClr val="66D7C4"/>
                </a:solidFill>
                <a:latin typeface="Tahoma"/>
                <a:ea typeface="Tahoma"/>
                <a:cs typeface="Tahoma"/>
              </a:rPr>
              <a:t>أساس قابل للتوسّع</a:t>
            </a:r>
          </a:p>
        </p:txBody>
      </p:sp>
      <p:sp>
        <p:nvSpPr>
          <p:cNvPr id="47" name="TextBox 46"/>
          <p:cNvSpPr txBox="1"/>
          <p:nvPr/>
        </p:nvSpPr>
        <p:spPr>
          <a:xfrm>
            <a:off x="758952" y="4892040"/>
            <a:ext cx="5065776" cy="795527"/>
          </a:xfrm>
          <a:prstGeom prst="rect">
            <a:avLst/>
          </a:prstGeom>
          <a:noFill/>
        </p:spPr>
        <p:txBody>
          <a:bodyPr wrap="square" lIns="27432" tIns="0" rIns="27432" bIns="0">
            <a:spAutoFit/>
          </a:bodyPr>
          <a:lstStyle/>
          <a:p>
            <a:pPr algn="r" rtl="1"/>
            <a:r>
              <a:rPr lang="ar-JO" sz="1600" b="0">
                <a:solidFill>
                  <a:srgbClr val="F4F8FA"/>
                </a:solidFill>
                <a:latin typeface="Tahoma"/>
                <a:ea typeface="Tahoma"/>
                <a:cs typeface="Tahoma"/>
              </a:rPr>
              <a:t>يجمع حسابات المستخدمين وسجل الطلبات ولوحة الإدارة لدعم نمو المنصة.</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B1926"/>
        </a:solidFill>
        <a:effectLst/>
      </p:bgPr>
    </p:bg>
    <p:spTree>
      <p:nvGrpSpPr>
        <p:cNvPr id="1" name=""/>
        <p:cNvGrpSpPr/>
        <p:nvPr/>
      </p:nvGrpSpPr>
      <p:grpSpPr>
        <a:xfrm>
          <a:off x="0" y="0"/>
          <a:ext cx="0" cy="0"/>
          <a:chOff x="0" y="0"/>
          <a:chExt cx="0" cy="0"/>
        </a:xfrm>
      </p:grpSpPr>
      <p:sp>
        <p:nvSpPr>
          <p:cNvPr id="2" name="Rectangle 1"/>
          <p:cNvSpPr/>
          <p:nvPr/>
        </p:nvSpPr>
        <p:spPr>
          <a:xfrm>
            <a:off x="11539728" y="484632"/>
            <a:ext cx="54864" cy="1417320"/>
          </a:xfrm>
          <a:prstGeom prst="rect">
            <a:avLst/>
          </a:prstGeom>
          <a:solidFill>
            <a:srgbClr val="66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57200"/>
            <a:ext cx="10881360" cy="365760"/>
          </a:xfrm>
          <a:prstGeom prst="rect">
            <a:avLst/>
          </a:prstGeom>
          <a:noFill/>
        </p:spPr>
        <p:txBody>
          <a:bodyPr wrap="square" lIns="27432" tIns="0" rIns="27432" bIns="0">
            <a:spAutoFit/>
          </a:bodyPr>
          <a:lstStyle/>
          <a:p>
            <a:pPr algn="r" rtl="1"/>
            <a:r>
              <a:rPr lang="ar-JO" sz="1500" b="0">
                <a:solidFill>
                  <a:srgbClr val="66D7C4"/>
                </a:solidFill>
                <a:latin typeface="Tahoma"/>
                <a:ea typeface="Tahoma"/>
                <a:cs typeface="Tahoma"/>
              </a:rPr>
              <a:t>Planned development · تطوير مخطط</a:t>
            </a:r>
          </a:p>
        </p:txBody>
      </p:sp>
      <p:sp>
        <p:nvSpPr>
          <p:cNvPr id="4" name="TextBox 3"/>
          <p:cNvSpPr txBox="1"/>
          <p:nvPr/>
        </p:nvSpPr>
        <p:spPr>
          <a:xfrm>
            <a:off x="6629400" y="932688"/>
            <a:ext cx="4800600" cy="685800"/>
          </a:xfrm>
          <a:prstGeom prst="rect">
            <a:avLst/>
          </a:prstGeom>
          <a:noFill/>
        </p:spPr>
        <p:txBody>
          <a:bodyPr wrap="square" lIns="27432" tIns="0" rIns="27432" bIns="0">
            <a:spAutoFit/>
          </a:bodyPr>
          <a:lstStyle/>
          <a:p>
            <a:pPr algn="r" rtl="1"/>
            <a:r>
              <a:rPr lang="ar-JO" sz="3200" b="1">
                <a:solidFill>
                  <a:srgbClr val="F4F8FA"/>
                </a:solidFill>
                <a:latin typeface="Tahoma"/>
                <a:ea typeface="Tahoma"/>
                <a:cs typeface="Tahoma"/>
              </a:rPr>
              <a:t>التطوير المستقبلي —</a:t>
            </a:r>
          </a:p>
        </p:txBody>
      </p:sp>
      <p:sp>
        <p:nvSpPr>
          <p:cNvPr id="5" name="TextBox 4"/>
          <p:cNvSpPr txBox="1"/>
          <p:nvPr/>
        </p:nvSpPr>
        <p:spPr>
          <a:xfrm>
            <a:off x="548640" y="932688"/>
            <a:ext cx="5943600" cy="685800"/>
          </a:xfrm>
          <a:prstGeom prst="rect">
            <a:avLst/>
          </a:prstGeom>
          <a:noFill/>
        </p:spPr>
        <p:txBody>
          <a:bodyPr wrap="square" lIns="27432" tIns="0" rIns="27432" bIns="0">
            <a:spAutoFit/>
          </a:bodyPr>
          <a:lstStyle/>
          <a:p>
            <a:pPr algn="r" rtl="0"/>
            <a:r>
              <a:rPr lang="en-US" sz="3000" b="1">
                <a:solidFill>
                  <a:srgbClr val="F4F8FA"/>
                </a:solidFill>
                <a:latin typeface="Tahoma"/>
                <a:ea typeface="Tahoma"/>
                <a:cs typeface="Tahoma"/>
              </a:rPr>
              <a:t>Future Roadmap</a:t>
            </a:r>
          </a:p>
        </p:txBody>
      </p:sp>
      <p:sp>
        <p:nvSpPr>
          <p:cNvPr id="6" name="TextBox 5"/>
          <p:cNvSpPr txBox="1"/>
          <p:nvPr/>
        </p:nvSpPr>
        <p:spPr>
          <a:xfrm>
            <a:off x="548640" y="1737360"/>
            <a:ext cx="10972800" cy="685800"/>
          </a:xfrm>
          <a:prstGeom prst="rect">
            <a:avLst/>
          </a:prstGeom>
          <a:noFill/>
        </p:spPr>
        <p:txBody>
          <a:bodyPr wrap="square" lIns="27432" tIns="0" rIns="27432" bIns="0">
            <a:spAutoFit/>
          </a:bodyPr>
          <a:lstStyle/>
          <a:p>
            <a:pPr algn="r" rtl="1"/>
            <a:r>
              <a:rPr lang="ar-JO" sz="1900" b="0">
                <a:solidFill>
                  <a:srgbClr val="B9CCD8"/>
                </a:solidFill>
                <a:latin typeface="Tahoma"/>
                <a:ea typeface="Tahoma"/>
                <a:cs typeface="Tahoma"/>
              </a:rPr>
              <a:t>خارطة نمو مقترحة لقدرات إضافية، تُطوَّر تدريجيًا دون مواعيد أو وعود زمنية محددة.</a:t>
            </a:r>
          </a:p>
        </p:txBody>
      </p:sp>
      <p:sp>
        <p:nvSpPr>
          <p:cNvPr id="7" name="Rectangle 6"/>
          <p:cNvSpPr/>
          <p:nvPr/>
        </p:nvSpPr>
        <p:spPr>
          <a:xfrm>
            <a:off x="594360" y="6437376"/>
            <a:ext cx="11000232" cy="10972"/>
          </a:xfrm>
          <a:prstGeom prst="rect">
            <a:avLst/>
          </a:prstGeom>
          <a:solidFill>
            <a:srgbClr val="2941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12080" y="6547104"/>
            <a:ext cx="6355080" cy="210312"/>
          </a:xfrm>
          <a:prstGeom prst="rect">
            <a:avLst/>
          </a:prstGeom>
          <a:noFill/>
        </p:spPr>
        <p:txBody>
          <a:bodyPr wrap="square" lIns="27432" tIns="0" rIns="27432" bIns="0">
            <a:spAutoFit/>
          </a:bodyPr>
          <a:lstStyle/>
          <a:p>
            <a:pPr algn="r" rtl="1"/>
            <a:r>
              <a:rPr lang="ar-JO" sz="1000" b="0">
                <a:solidFill>
                  <a:srgbClr val="B9CCD8"/>
                </a:solidFill>
                <a:latin typeface="Tahoma"/>
                <a:ea typeface="Tahoma"/>
                <a:cs typeface="Tahoma"/>
              </a:rPr>
              <a:t>Mustanad Jo  |  MVP إرشادي</a:t>
            </a:r>
          </a:p>
        </p:txBody>
      </p:sp>
      <p:sp>
        <p:nvSpPr>
          <p:cNvPr id="9" name="TextBox 8"/>
          <p:cNvSpPr txBox="1"/>
          <p:nvPr/>
        </p:nvSpPr>
        <p:spPr>
          <a:xfrm>
            <a:off x="594360" y="6547104"/>
            <a:ext cx="1828800" cy="210312"/>
          </a:xfrm>
          <a:prstGeom prst="rect">
            <a:avLst/>
          </a:prstGeom>
          <a:noFill/>
        </p:spPr>
        <p:txBody>
          <a:bodyPr wrap="square" lIns="27432" tIns="0" rIns="27432" bIns="0">
            <a:spAutoFit/>
          </a:bodyPr>
          <a:lstStyle/>
          <a:p>
            <a:pPr algn="r" rtl="1"/>
            <a:r>
              <a:rPr lang="ar-JO" sz="1000" b="0">
                <a:solidFill>
                  <a:srgbClr val="B9CCD8"/>
                </a:solidFill>
                <a:latin typeface="Tahoma"/>
                <a:ea typeface="Tahoma"/>
                <a:cs typeface="Tahoma"/>
              </a:rPr>
              <a:t>الشريحة 16 من 17</a:t>
            </a:r>
          </a:p>
        </p:txBody>
      </p:sp>
      <p:cxnSp>
        <p:nvCxnSpPr>
          <p:cNvPr id="10" name="Connector 9"/>
          <p:cNvCxnSpPr/>
          <p:nvPr/>
        </p:nvCxnSpPr>
        <p:spPr>
          <a:xfrm>
            <a:off x="1682496" y="2770632"/>
            <a:ext cx="8833104" cy="0"/>
          </a:xfrm>
          <a:prstGeom prst="line">
            <a:avLst/>
          </a:prstGeom>
          <a:ln w="25400">
            <a:solidFill>
              <a:srgbClr val="66D7C4"/>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10213848" y="2532888"/>
            <a:ext cx="475488" cy="475488"/>
          </a:xfrm>
          <a:prstGeom prst="ellipse">
            <a:avLst/>
          </a:prstGeom>
          <a:solidFill>
            <a:srgbClr val="66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232136" y="2610612"/>
            <a:ext cx="438912" cy="292608"/>
          </a:xfrm>
          <a:prstGeom prst="rect">
            <a:avLst/>
          </a:prstGeom>
          <a:noFill/>
        </p:spPr>
        <p:txBody>
          <a:bodyPr wrap="square" lIns="27432" tIns="0" rIns="27432" bIns="0">
            <a:spAutoFit/>
          </a:bodyPr>
          <a:lstStyle/>
          <a:p>
            <a:pPr algn="ctr" rtl="1"/>
            <a:r>
              <a:rPr lang="ar-JO" sz="1700" b="1">
                <a:solidFill>
                  <a:srgbClr val="0B1926"/>
                </a:solidFill>
                <a:latin typeface="Tahoma"/>
                <a:ea typeface="Tahoma"/>
                <a:cs typeface="Tahoma"/>
              </a:rPr>
              <a:t>1</a:t>
            </a:r>
          </a:p>
        </p:txBody>
      </p:sp>
      <p:sp>
        <p:nvSpPr>
          <p:cNvPr id="13" name="Rounded Rectangle 12"/>
          <p:cNvSpPr/>
          <p:nvPr/>
        </p:nvSpPr>
        <p:spPr>
          <a:xfrm>
            <a:off x="9491472" y="3218688"/>
            <a:ext cx="2103120" cy="2112264"/>
          </a:xfrm>
          <a:prstGeom prst="roundRect">
            <a:avLst>
              <a:gd name="adj" fmla="val 7000"/>
            </a:avLst>
          </a:prstGeom>
          <a:solidFill>
            <a:srgbClr val="1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610344" y="3410712"/>
            <a:ext cx="1865376" cy="566928"/>
          </a:xfrm>
          <a:prstGeom prst="rect">
            <a:avLst/>
          </a:prstGeom>
          <a:noFill/>
        </p:spPr>
        <p:txBody>
          <a:bodyPr wrap="square" lIns="27432" tIns="0" rIns="27432" bIns="0">
            <a:spAutoFit/>
          </a:bodyPr>
          <a:lstStyle/>
          <a:p>
            <a:pPr algn="ctr" rtl="1"/>
            <a:r>
              <a:rPr lang="ar-JO" sz="1700" b="1">
                <a:solidFill>
                  <a:srgbClr val="66D7C4"/>
                </a:solidFill>
                <a:latin typeface="Tahoma"/>
                <a:ea typeface="Tahoma"/>
                <a:cs typeface="Tahoma"/>
              </a:rPr>
              <a:t>تخصيص أعمق</a:t>
            </a:r>
          </a:p>
        </p:txBody>
      </p:sp>
      <p:sp>
        <p:nvSpPr>
          <p:cNvPr id="15" name="TextBox 14"/>
          <p:cNvSpPr txBox="1"/>
          <p:nvPr/>
        </p:nvSpPr>
        <p:spPr>
          <a:xfrm>
            <a:off x="9637776" y="4133087"/>
            <a:ext cx="1810512" cy="1078992"/>
          </a:xfrm>
          <a:prstGeom prst="rect">
            <a:avLst/>
          </a:prstGeom>
          <a:noFill/>
        </p:spPr>
        <p:txBody>
          <a:bodyPr wrap="square" lIns="27432" tIns="0" rIns="27432" bIns="0">
            <a:spAutoFit/>
          </a:bodyPr>
          <a:lstStyle/>
          <a:p>
            <a:pPr algn="ctr" rtl="1"/>
            <a:r>
              <a:rPr lang="ar-JO" sz="1500" b="0">
                <a:solidFill>
                  <a:srgbClr val="F4F8FA"/>
                </a:solidFill>
                <a:latin typeface="Tahoma"/>
                <a:ea typeface="Tahoma"/>
                <a:cs typeface="Tahoma"/>
              </a:rPr>
              <a:t>خطط تتناسب مع ميزانية المستخدم وموقعه وخبرته.</a:t>
            </a:r>
          </a:p>
        </p:txBody>
      </p:sp>
      <p:sp>
        <p:nvSpPr>
          <p:cNvPr id="16" name="Oval 15"/>
          <p:cNvSpPr/>
          <p:nvPr/>
        </p:nvSpPr>
        <p:spPr>
          <a:xfrm>
            <a:off x="7991856" y="2532888"/>
            <a:ext cx="475488" cy="475488"/>
          </a:xfrm>
          <a:prstGeom prst="ellipse">
            <a:avLst/>
          </a:prstGeom>
          <a:solidFill>
            <a:srgbClr val="66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010144" y="2610612"/>
            <a:ext cx="438912" cy="292608"/>
          </a:xfrm>
          <a:prstGeom prst="rect">
            <a:avLst/>
          </a:prstGeom>
          <a:noFill/>
        </p:spPr>
        <p:txBody>
          <a:bodyPr wrap="square" lIns="27432" tIns="0" rIns="27432" bIns="0">
            <a:spAutoFit/>
          </a:bodyPr>
          <a:lstStyle/>
          <a:p>
            <a:pPr algn="ctr" rtl="1"/>
            <a:r>
              <a:rPr lang="ar-JO" sz="1700" b="1">
                <a:solidFill>
                  <a:srgbClr val="0B1926"/>
                </a:solidFill>
                <a:latin typeface="Tahoma"/>
                <a:ea typeface="Tahoma"/>
                <a:cs typeface="Tahoma"/>
              </a:rPr>
              <a:t>2</a:t>
            </a:r>
          </a:p>
        </p:txBody>
      </p:sp>
      <p:sp>
        <p:nvSpPr>
          <p:cNvPr id="18" name="Rounded Rectangle 17"/>
          <p:cNvSpPr/>
          <p:nvPr/>
        </p:nvSpPr>
        <p:spPr>
          <a:xfrm>
            <a:off x="7269480" y="3218688"/>
            <a:ext cx="2103120" cy="2112264"/>
          </a:xfrm>
          <a:prstGeom prst="roundRect">
            <a:avLst>
              <a:gd name="adj" fmla="val 7000"/>
            </a:avLst>
          </a:prstGeom>
          <a:solidFill>
            <a:srgbClr val="1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388352" y="3410712"/>
            <a:ext cx="1865376" cy="566928"/>
          </a:xfrm>
          <a:prstGeom prst="rect">
            <a:avLst/>
          </a:prstGeom>
          <a:noFill/>
        </p:spPr>
        <p:txBody>
          <a:bodyPr wrap="square" lIns="27432" tIns="0" rIns="27432" bIns="0">
            <a:spAutoFit/>
          </a:bodyPr>
          <a:lstStyle/>
          <a:p>
            <a:pPr algn="ctr" rtl="1"/>
            <a:r>
              <a:rPr lang="ar-JO" sz="1700" b="1">
                <a:solidFill>
                  <a:srgbClr val="66D7C4"/>
                </a:solidFill>
                <a:latin typeface="Tahoma"/>
                <a:ea typeface="Tahoma"/>
                <a:cs typeface="Tahoma"/>
              </a:rPr>
              <a:t>أدوات تنفيذ ذكية</a:t>
            </a:r>
          </a:p>
        </p:txBody>
      </p:sp>
      <p:sp>
        <p:nvSpPr>
          <p:cNvPr id="20" name="TextBox 19"/>
          <p:cNvSpPr txBox="1"/>
          <p:nvPr/>
        </p:nvSpPr>
        <p:spPr>
          <a:xfrm>
            <a:off x="7415784" y="4133087"/>
            <a:ext cx="1810512" cy="1078992"/>
          </a:xfrm>
          <a:prstGeom prst="rect">
            <a:avLst/>
          </a:prstGeom>
          <a:noFill/>
        </p:spPr>
        <p:txBody>
          <a:bodyPr wrap="square" lIns="27432" tIns="0" rIns="27432" bIns="0">
            <a:spAutoFit/>
          </a:bodyPr>
          <a:lstStyle/>
          <a:p>
            <a:pPr algn="ctr" rtl="1"/>
            <a:r>
              <a:rPr lang="ar-JO" sz="1500" b="0">
                <a:solidFill>
                  <a:srgbClr val="F4F8FA"/>
                </a:solidFill>
                <a:latin typeface="Tahoma"/>
                <a:ea typeface="Tahoma"/>
                <a:cs typeface="Tahoma"/>
              </a:rPr>
              <a:t>حاسبة ميزانية وجدول مهام وتذكيرات.</a:t>
            </a:r>
          </a:p>
        </p:txBody>
      </p:sp>
      <p:sp>
        <p:nvSpPr>
          <p:cNvPr id="21" name="Oval 20"/>
          <p:cNvSpPr/>
          <p:nvPr/>
        </p:nvSpPr>
        <p:spPr>
          <a:xfrm>
            <a:off x="5769864" y="2532888"/>
            <a:ext cx="475488" cy="475488"/>
          </a:xfrm>
          <a:prstGeom prst="ellipse">
            <a:avLst/>
          </a:prstGeom>
          <a:solidFill>
            <a:srgbClr val="66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788152" y="2610612"/>
            <a:ext cx="438912" cy="292608"/>
          </a:xfrm>
          <a:prstGeom prst="rect">
            <a:avLst/>
          </a:prstGeom>
          <a:noFill/>
        </p:spPr>
        <p:txBody>
          <a:bodyPr wrap="square" lIns="27432" tIns="0" rIns="27432" bIns="0">
            <a:spAutoFit/>
          </a:bodyPr>
          <a:lstStyle/>
          <a:p>
            <a:pPr algn="ctr" rtl="1"/>
            <a:r>
              <a:rPr lang="ar-JO" sz="1700" b="1">
                <a:solidFill>
                  <a:srgbClr val="0B1926"/>
                </a:solidFill>
                <a:latin typeface="Tahoma"/>
                <a:ea typeface="Tahoma"/>
                <a:cs typeface="Tahoma"/>
              </a:rPr>
              <a:t>3</a:t>
            </a:r>
          </a:p>
        </p:txBody>
      </p:sp>
      <p:sp>
        <p:nvSpPr>
          <p:cNvPr id="23" name="Rounded Rectangle 22"/>
          <p:cNvSpPr/>
          <p:nvPr/>
        </p:nvSpPr>
        <p:spPr>
          <a:xfrm>
            <a:off x="5047488" y="3218688"/>
            <a:ext cx="2103120" cy="2112264"/>
          </a:xfrm>
          <a:prstGeom prst="roundRect">
            <a:avLst>
              <a:gd name="adj" fmla="val 7000"/>
            </a:avLst>
          </a:prstGeom>
          <a:solidFill>
            <a:srgbClr val="1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166360" y="3410712"/>
            <a:ext cx="1865376" cy="566928"/>
          </a:xfrm>
          <a:prstGeom prst="rect">
            <a:avLst/>
          </a:prstGeom>
          <a:noFill/>
        </p:spPr>
        <p:txBody>
          <a:bodyPr wrap="square" lIns="27432" tIns="0" rIns="27432" bIns="0">
            <a:spAutoFit/>
          </a:bodyPr>
          <a:lstStyle/>
          <a:p>
            <a:pPr algn="ctr" rtl="1"/>
            <a:r>
              <a:rPr lang="ar-JO" sz="1700" b="1">
                <a:solidFill>
                  <a:srgbClr val="66D7C4"/>
                </a:solidFill>
                <a:latin typeface="Tahoma"/>
                <a:ea typeface="Tahoma"/>
                <a:cs typeface="Tahoma"/>
              </a:rPr>
              <a:t>إدارة المستندات</a:t>
            </a:r>
          </a:p>
        </p:txBody>
      </p:sp>
      <p:sp>
        <p:nvSpPr>
          <p:cNvPr id="25" name="TextBox 24"/>
          <p:cNvSpPr txBox="1"/>
          <p:nvPr/>
        </p:nvSpPr>
        <p:spPr>
          <a:xfrm>
            <a:off x="5193792" y="4133087"/>
            <a:ext cx="1810512" cy="1078992"/>
          </a:xfrm>
          <a:prstGeom prst="rect">
            <a:avLst/>
          </a:prstGeom>
          <a:noFill/>
        </p:spPr>
        <p:txBody>
          <a:bodyPr wrap="square" lIns="27432" tIns="0" rIns="27432" bIns="0">
            <a:spAutoFit/>
          </a:bodyPr>
          <a:lstStyle/>
          <a:p>
            <a:pPr algn="ctr" rtl="1"/>
            <a:r>
              <a:rPr lang="ar-JO" sz="1500" b="0">
                <a:solidFill>
                  <a:srgbClr val="F4F8FA"/>
                </a:solidFill>
                <a:latin typeface="Tahoma"/>
                <a:ea typeface="Tahoma"/>
                <a:cs typeface="Tahoma"/>
              </a:rPr>
              <a:t>رفع الوثائق وتنظيمها وتحديد متطلبات التجهيز الناقصة.</a:t>
            </a:r>
          </a:p>
        </p:txBody>
      </p:sp>
      <p:sp>
        <p:nvSpPr>
          <p:cNvPr id="26" name="Oval 25"/>
          <p:cNvSpPr/>
          <p:nvPr/>
        </p:nvSpPr>
        <p:spPr>
          <a:xfrm>
            <a:off x="3547872" y="2532888"/>
            <a:ext cx="475488" cy="475488"/>
          </a:xfrm>
          <a:prstGeom prst="ellipse">
            <a:avLst/>
          </a:prstGeom>
          <a:solidFill>
            <a:srgbClr val="66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566160" y="2610612"/>
            <a:ext cx="438912" cy="292608"/>
          </a:xfrm>
          <a:prstGeom prst="rect">
            <a:avLst/>
          </a:prstGeom>
          <a:noFill/>
        </p:spPr>
        <p:txBody>
          <a:bodyPr wrap="square" lIns="27432" tIns="0" rIns="27432" bIns="0">
            <a:spAutoFit/>
          </a:bodyPr>
          <a:lstStyle/>
          <a:p>
            <a:pPr algn="ctr" rtl="1"/>
            <a:r>
              <a:rPr lang="ar-JO" sz="1700" b="1">
                <a:solidFill>
                  <a:srgbClr val="0B1926"/>
                </a:solidFill>
                <a:latin typeface="Tahoma"/>
                <a:ea typeface="Tahoma"/>
                <a:cs typeface="Tahoma"/>
              </a:rPr>
              <a:t>4</a:t>
            </a:r>
          </a:p>
        </p:txBody>
      </p:sp>
      <p:sp>
        <p:nvSpPr>
          <p:cNvPr id="28" name="Rounded Rectangle 27"/>
          <p:cNvSpPr/>
          <p:nvPr/>
        </p:nvSpPr>
        <p:spPr>
          <a:xfrm>
            <a:off x="2825496" y="3218688"/>
            <a:ext cx="2103120" cy="2112264"/>
          </a:xfrm>
          <a:prstGeom prst="roundRect">
            <a:avLst>
              <a:gd name="adj" fmla="val 7000"/>
            </a:avLst>
          </a:prstGeom>
          <a:solidFill>
            <a:srgbClr val="1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944368" y="3410712"/>
            <a:ext cx="1865376" cy="566928"/>
          </a:xfrm>
          <a:prstGeom prst="rect">
            <a:avLst/>
          </a:prstGeom>
          <a:noFill/>
        </p:spPr>
        <p:txBody>
          <a:bodyPr wrap="square" lIns="27432" tIns="0" rIns="27432" bIns="0">
            <a:spAutoFit/>
          </a:bodyPr>
          <a:lstStyle/>
          <a:p>
            <a:pPr algn="ctr" rtl="1"/>
            <a:r>
              <a:rPr lang="ar-JO" sz="1700" b="1">
                <a:solidFill>
                  <a:srgbClr val="66D7C4"/>
                </a:solidFill>
                <a:latin typeface="Tahoma"/>
                <a:ea typeface="Tahoma"/>
                <a:cs typeface="Tahoma"/>
              </a:rPr>
              <a:t>توسيع نطاق الخدمة</a:t>
            </a:r>
          </a:p>
        </p:txBody>
      </p:sp>
      <p:sp>
        <p:nvSpPr>
          <p:cNvPr id="30" name="TextBox 29"/>
          <p:cNvSpPr txBox="1"/>
          <p:nvPr/>
        </p:nvSpPr>
        <p:spPr>
          <a:xfrm>
            <a:off x="2971800" y="4133087"/>
            <a:ext cx="1810512" cy="1078992"/>
          </a:xfrm>
          <a:prstGeom prst="rect">
            <a:avLst/>
          </a:prstGeom>
          <a:noFill/>
        </p:spPr>
        <p:txBody>
          <a:bodyPr wrap="square" lIns="27432" tIns="0" rIns="27432" bIns="0">
            <a:spAutoFit/>
          </a:bodyPr>
          <a:lstStyle/>
          <a:p>
            <a:pPr algn="ctr" rtl="1"/>
            <a:r>
              <a:rPr lang="ar-JO" sz="1500" b="0">
                <a:solidFill>
                  <a:srgbClr val="F4F8FA"/>
                </a:solidFill>
                <a:latin typeface="Tahoma"/>
                <a:ea typeface="Tahoma"/>
                <a:cs typeface="Tahoma"/>
              </a:rPr>
              <a:t>إضافة قطاعات ومدن جديدة تدريجيًا، مع مراجعة مصادر كل رحلة.</a:t>
            </a:r>
          </a:p>
        </p:txBody>
      </p:sp>
      <p:sp>
        <p:nvSpPr>
          <p:cNvPr id="31" name="Oval 30"/>
          <p:cNvSpPr/>
          <p:nvPr/>
        </p:nvSpPr>
        <p:spPr>
          <a:xfrm>
            <a:off x="1325880" y="2532888"/>
            <a:ext cx="475488" cy="475488"/>
          </a:xfrm>
          <a:prstGeom prst="ellipse">
            <a:avLst/>
          </a:prstGeom>
          <a:solidFill>
            <a:srgbClr val="66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344168" y="2610612"/>
            <a:ext cx="438912" cy="292608"/>
          </a:xfrm>
          <a:prstGeom prst="rect">
            <a:avLst/>
          </a:prstGeom>
          <a:noFill/>
        </p:spPr>
        <p:txBody>
          <a:bodyPr wrap="square" lIns="27432" tIns="0" rIns="27432" bIns="0">
            <a:spAutoFit/>
          </a:bodyPr>
          <a:lstStyle/>
          <a:p>
            <a:pPr algn="ctr" rtl="1"/>
            <a:r>
              <a:rPr lang="ar-JO" sz="1700" b="1">
                <a:solidFill>
                  <a:srgbClr val="0B1926"/>
                </a:solidFill>
                <a:latin typeface="Tahoma"/>
                <a:ea typeface="Tahoma"/>
                <a:cs typeface="Tahoma"/>
              </a:rPr>
              <a:t>5</a:t>
            </a:r>
          </a:p>
        </p:txBody>
      </p:sp>
      <p:sp>
        <p:nvSpPr>
          <p:cNvPr id="33" name="Rounded Rectangle 32"/>
          <p:cNvSpPr/>
          <p:nvPr/>
        </p:nvSpPr>
        <p:spPr>
          <a:xfrm>
            <a:off x="603504" y="3218688"/>
            <a:ext cx="2103120" cy="2112264"/>
          </a:xfrm>
          <a:prstGeom prst="roundRect">
            <a:avLst>
              <a:gd name="adj" fmla="val 7000"/>
            </a:avLst>
          </a:prstGeom>
          <a:solidFill>
            <a:srgbClr val="1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22376" y="3410712"/>
            <a:ext cx="1865376" cy="566928"/>
          </a:xfrm>
          <a:prstGeom prst="rect">
            <a:avLst/>
          </a:prstGeom>
          <a:noFill/>
        </p:spPr>
        <p:txBody>
          <a:bodyPr wrap="square" lIns="27432" tIns="0" rIns="27432" bIns="0">
            <a:spAutoFit/>
          </a:bodyPr>
          <a:lstStyle/>
          <a:p>
            <a:pPr algn="ctr" rtl="1"/>
            <a:r>
              <a:rPr lang="ar-JO" sz="1700" b="1">
                <a:solidFill>
                  <a:srgbClr val="66D7C4"/>
                </a:solidFill>
                <a:latin typeface="Tahoma"/>
                <a:ea typeface="Tahoma"/>
                <a:cs typeface="Tahoma"/>
              </a:rPr>
              <a:t>التعاون والشراكات</a:t>
            </a:r>
          </a:p>
        </p:txBody>
      </p:sp>
      <p:sp>
        <p:nvSpPr>
          <p:cNvPr id="35" name="TextBox 34"/>
          <p:cNvSpPr txBox="1"/>
          <p:nvPr/>
        </p:nvSpPr>
        <p:spPr>
          <a:xfrm>
            <a:off x="749808" y="4133087"/>
            <a:ext cx="1810512" cy="1078992"/>
          </a:xfrm>
          <a:prstGeom prst="rect">
            <a:avLst/>
          </a:prstGeom>
          <a:noFill/>
        </p:spPr>
        <p:txBody>
          <a:bodyPr wrap="square" lIns="27432" tIns="0" rIns="27432" bIns="0">
            <a:spAutoFit/>
          </a:bodyPr>
          <a:lstStyle/>
          <a:p>
            <a:pPr algn="ctr" rtl="1"/>
            <a:r>
              <a:rPr lang="ar-JO" sz="1500" b="0">
                <a:solidFill>
                  <a:srgbClr val="F4F8FA"/>
                </a:solidFill>
                <a:latin typeface="Tahoma"/>
                <a:ea typeface="Tahoma"/>
                <a:cs typeface="Tahoma"/>
              </a:rPr>
              <a:t>مشاركة الخطط مع الشركاء والمستشارين، وتطوير حسابات لحاضنات الأعمال.</a:t>
            </a:r>
          </a:p>
        </p:txBody>
      </p:sp>
      <p:sp>
        <p:nvSpPr>
          <p:cNvPr id="36" name="Rounded Rectangle 35"/>
          <p:cNvSpPr/>
          <p:nvPr/>
        </p:nvSpPr>
        <p:spPr>
          <a:xfrm>
            <a:off x="594360" y="5705856"/>
            <a:ext cx="11000232" cy="475488"/>
          </a:xfrm>
          <a:prstGeom prst="roundRect">
            <a:avLst>
              <a:gd name="adj" fmla="val 7000"/>
            </a:avLst>
          </a:prstGeom>
          <a:solidFill>
            <a:srgbClr val="2340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77240" y="5815584"/>
            <a:ext cx="10634472" cy="310896"/>
          </a:xfrm>
          <a:prstGeom prst="rect">
            <a:avLst/>
          </a:prstGeom>
          <a:noFill/>
        </p:spPr>
        <p:txBody>
          <a:bodyPr wrap="square" lIns="27432" tIns="0" rIns="27432" bIns="0">
            <a:spAutoFit/>
          </a:bodyPr>
          <a:lstStyle/>
          <a:p>
            <a:pPr algn="ctr" rtl="1"/>
            <a:r>
              <a:rPr lang="ar-JO" sz="1600" b="1">
                <a:solidFill>
                  <a:srgbClr val="F4F8FA"/>
                </a:solidFill>
                <a:latin typeface="Tahoma"/>
                <a:ea typeface="Tahoma"/>
                <a:cs typeface="Tahoma"/>
              </a:rPr>
              <a:t>رؤيتنا: تطوير Mustanad Jo إلى منصة ترافق صاحب المشروع من الفكرة إلى التنفيذ.</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B1926"/>
        </a:solidFill>
        <a:effectLst/>
      </p:bgPr>
    </p:bg>
    <p:spTree>
      <p:nvGrpSpPr>
        <p:cNvPr id="1" name=""/>
        <p:cNvGrpSpPr/>
        <p:nvPr/>
      </p:nvGrpSpPr>
      <p:grpSpPr>
        <a:xfrm>
          <a:off x="0" y="0"/>
          <a:ext cx="0" cy="0"/>
          <a:chOff x="0" y="0"/>
          <a:chExt cx="0" cy="0"/>
        </a:xfrm>
      </p:grpSpPr>
      <p:sp>
        <p:nvSpPr>
          <p:cNvPr id="2" name="Rectangle 1"/>
          <p:cNvSpPr/>
          <p:nvPr/>
        </p:nvSpPr>
        <p:spPr>
          <a:xfrm>
            <a:off x="11539728" y="484632"/>
            <a:ext cx="54864" cy="1417320"/>
          </a:xfrm>
          <a:prstGeom prst="rect">
            <a:avLst/>
          </a:prstGeom>
          <a:solidFill>
            <a:srgbClr val="66D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57200"/>
            <a:ext cx="10881360" cy="365760"/>
          </a:xfrm>
          <a:prstGeom prst="rect">
            <a:avLst/>
          </a:prstGeom>
          <a:noFill/>
        </p:spPr>
        <p:txBody>
          <a:bodyPr wrap="square" lIns="36576" tIns="0" rIns="36576" bIns="0">
            <a:spAutoFit/>
          </a:bodyPr>
          <a:lstStyle/>
          <a:p>
            <a:pPr algn="r" rtl="1">
              <a:spcAft>
                <a:spcPts val="600"/>
              </a:spcAft>
            </a:pPr>
            <a:r>
              <a:rPr lang="ar-JO" sz="1500" b="0">
                <a:solidFill>
                  <a:srgbClr val="66D7C4"/>
                </a:solidFill>
                <a:latin typeface="Tahoma"/>
                <a:ea typeface="Tahoma"/>
                <a:cs typeface="Tahoma"/>
              </a:rPr>
              <a:t>6 / 8 · التسليم والنطاق</a:t>
            </a:r>
          </a:p>
        </p:txBody>
      </p:sp>
      <p:sp>
        <p:nvSpPr>
          <p:cNvPr id="4" name="TextBox 3"/>
          <p:cNvSpPr txBox="1"/>
          <p:nvPr/>
        </p:nvSpPr>
        <p:spPr>
          <a:xfrm>
            <a:off x="548640" y="932688"/>
            <a:ext cx="10881360" cy="640080"/>
          </a:xfrm>
          <a:prstGeom prst="rect">
            <a:avLst/>
          </a:prstGeom>
          <a:noFill/>
        </p:spPr>
        <p:txBody>
          <a:bodyPr wrap="square" lIns="36576" tIns="0" rIns="36576" bIns="0">
            <a:spAutoFit/>
          </a:bodyPr>
          <a:lstStyle/>
          <a:p>
            <a:pPr algn="r" rtl="1">
              <a:spcAft>
                <a:spcPts val="600"/>
              </a:spcAft>
            </a:pPr>
            <a:r>
              <a:rPr lang="ar-JO" sz="3400" b="1">
                <a:solidFill>
                  <a:srgbClr val="F4F8FA"/>
                </a:solidFill>
                <a:latin typeface="Tahoma"/>
                <a:ea typeface="Tahoma"/>
                <a:cs typeface="Tahoma"/>
              </a:rPr>
              <a:t>يمكن تنزيله وفهمه وتشغيله</a:t>
            </a:r>
          </a:p>
        </p:txBody>
      </p:sp>
      <p:sp>
        <p:nvSpPr>
          <p:cNvPr id="5" name="TextBox 4"/>
          <p:cNvSpPr txBox="1"/>
          <p:nvPr/>
        </p:nvSpPr>
        <p:spPr>
          <a:xfrm>
            <a:off x="548640" y="1700784"/>
            <a:ext cx="10972800" cy="777240"/>
          </a:xfrm>
          <a:prstGeom prst="rect">
            <a:avLst/>
          </a:prstGeom>
          <a:noFill/>
        </p:spPr>
        <p:txBody>
          <a:bodyPr wrap="square" lIns="36576" tIns="0" rIns="36576" bIns="0">
            <a:spAutoFit/>
          </a:bodyPr>
          <a:lstStyle/>
          <a:p>
            <a:pPr algn="r" rtl="1">
              <a:spcAft>
                <a:spcPts val="600"/>
              </a:spcAft>
            </a:pPr>
            <a:r>
              <a:rPr lang="ar-JO" sz="2000" b="0">
                <a:solidFill>
                  <a:srgbClr val="B9CCD8"/>
                </a:solidFill>
                <a:latin typeface="Tahoma"/>
                <a:ea typeface="Tahoma"/>
                <a:cs typeface="Tahoma"/>
              </a:rPr>
              <a:t>الكود + README + المتطلبات والتصميم + الديمو + PowerPoint وPDF.</a:t>
            </a:r>
          </a:p>
        </p:txBody>
      </p:sp>
      <p:sp>
        <p:nvSpPr>
          <p:cNvPr id="6" name="Rounded Rectangle 5"/>
          <p:cNvSpPr/>
          <p:nvPr/>
        </p:nvSpPr>
        <p:spPr>
          <a:xfrm>
            <a:off x="8074152" y="2761488"/>
            <a:ext cx="3520439" cy="3209544"/>
          </a:xfrm>
          <a:prstGeom prst="roundRect">
            <a:avLst>
              <a:gd name="adj" fmla="val 7000"/>
            </a:avLst>
          </a:prstGeom>
          <a:solidFill>
            <a:srgbClr val="1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57031" y="2935224"/>
            <a:ext cx="3154679" cy="411480"/>
          </a:xfrm>
          <a:prstGeom prst="rect">
            <a:avLst/>
          </a:prstGeom>
          <a:noFill/>
        </p:spPr>
        <p:txBody>
          <a:bodyPr wrap="square" lIns="36576" tIns="0" rIns="36576" bIns="0">
            <a:spAutoFit/>
          </a:bodyPr>
          <a:lstStyle/>
          <a:p>
            <a:pPr algn="r" rtl="1">
              <a:spcAft>
                <a:spcPts val="600"/>
              </a:spcAft>
            </a:pPr>
            <a:r>
              <a:rPr lang="ar-JO" sz="2300" b="1">
                <a:solidFill>
                  <a:srgbClr val="66D7C4"/>
                </a:solidFill>
                <a:latin typeface="Tahoma"/>
                <a:ea typeface="Tahoma"/>
                <a:cs typeface="Tahoma"/>
              </a:rPr>
              <a:t>جهاز اللجنة</a:t>
            </a:r>
          </a:p>
        </p:txBody>
      </p:sp>
      <p:sp>
        <p:nvSpPr>
          <p:cNvPr id="8" name="TextBox 7"/>
          <p:cNvSpPr txBox="1"/>
          <p:nvPr/>
        </p:nvSpPr>
        <p:spPr>
          <a:xfrm>
            <a:off x="8257031" y="3456432"/>
            <a:ext cx="3154679" cy="2441448"/>
          </a:xfrm>
          <a:prstGeom prst="rect">
            <a:avLst/>
          </a:prstGeom>
          <a:noFill/>
        </p:spPr>
        <p:txBody>
          <a:bodyPr wrap="square" lIns="36576" tIns="0" rIns="36576" bIns="0">
            <a:spAutoFit/>
          </a:bodyPr>
          <a:lstStyle/>
          <a:p>
            <a:pPr algn="r" rtl="1">
              <a:spcAft>
                <a:spcPts val="600"/>
              </a:spcAft>
            </a:pPr>
            <a:r>
              <a:rPr lang="ar-JO" sz="2100" b="0">
                <a:solidFill>
                  <a:srgbClr val="F4F8FA"/>
                </a:solidFill>
                <a:latin typeface="Tahoma"/>
                <a:ea typeface="Tahoma"/>
                <a:cs typeface="Tahoma"/>
              </a:rPr>
              <a:t>Node وMongoDB، npm ci، بيئة محلية ومفتاح، db:setup ثم dev أو build/start.</a:t>
            </a:r>
          </a:p>
        </p:txBody>
      </p:sp>
      <p:sp>
        <p:nvSpPr>
          <p:cNvPr id="9" name="Rounded Rectangle 8"/>
          <p:cNvSpPr/>
          <p:nvPr/>
        </p:nvSpPr>
        <p:spPr>
          <a:xfrm>
            <a:off x="4334256" y="2761488"/>
            <a:ext cx="3520439" cy="3209544"/>
          </a:xfrm>
          <a:prstGeom prst="roundRect">
            <a:avLst>
              <a:gd name="adj" fmla="val 7000"/>
            </a:avLst>
          </a:prstGeom>
          <a:solidFill>
            <a:srgbClr val="1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17136" y="2935224"/>
            <a:ext cx="3154679" cy="411480"/>
          </a:xfrm>
          <a:prstGeom prst="rect">
            <a:avLst/>
          </a:prstGeom>
          <a:noFill/>
        </p:spPr>
        <p:txBody>
          <a:bodyPr wrap="square" lIns="36576" tIns="0" rIns="36576" bIns="0">
            <a:spAutoFit/>
          </a:bodyPr>
          <a:lstStyle/>
          <a:p>
            <a:pPr algn="r" rtl="1">
              <a:spcAft>
                <a:spcPts val="600"/>
              </a:spcAft>
            </a:pPr>
            <a:r>
              <a:rPr lang="ar-JO" sz="2300" b="1">
                <a:solidFill>
                  <a:srgbClr val="66D7C4"/>
                </a:solidFill>
                <a:latin typeface="Tahoma"/>
                <a:ea typeface="Tahoma"/>
                <a:cs typeface="Tahoma"/>
              </a:rPr>
              <a:t>AI اختياري</a:t>
            </a:r>
          </a:p>
        </p:txBody>
      </p:sp>
      <p:sp>
        <p:nvSpPr>
          <p:cNvPr id="11" name="TextBox 10"/>
          <p:cNvSpPr txBox="1"/>
          <p:nvPr/>
        </p:nvSpPr>
        <p:spPr>
          <a:xfrm>
            <a:off x="4517136" y="3456432"/>
            <a:ext cx="3154679" cy="2441448"/>
          </a:xfrm>
          <a:prstGeom prst="rect">
            <a:avLst/>
          </a:prstGeom>
          <a:noFill/>
        </p:spPr>
        <p:txBody>
          <a:bodyPr wrap="square" lIns="36576" tIns="0" rIns="36576" bIns="0">
            <a:spAutoFit/>
          </a:bodyPr>
          <a:lstStyle/>
          <a:p>
            <a:pPr algn="r" rtl="1">
              <a:spcAft>
                <a:spcPts val="600"/>
              </a:spcAft>
            </a:pPr>
            <a:r>
              <a:rPr lang="ar-JO" sz="2100" b="0">
                <a:solidFill>
                  <a:srgbClr val="F4F8FA"/>
                </a:solidFill>
                <a:latin typeface="Tahoma"/>
                <a:ea typeface="Tahoma"/>
                <a:cs typeface="Tahoma"/>
              </a:rPr>
              <a:t>Ollama ونموذج محلي لتجربة AI؛ الوضع البديل يعمل لكنه يُعلن بوضوح.</a:t>
            </a:r>
          </a:p>
        </p:txBody>
      </p:sp>
      <p:sp>
        <p:nvSpPr>
          <p:cNvPr id="12" name="Rounded Rectangle 11"/>
          <p:cNvSpPr/>
          <p:nvPr/>
        </p:nvSpPr>
        <p:spPr>
          <a:xfrm>
            <a:off x="594360" y="2761488"/>
            <a:ext cx="3520439" cy="3209544"/>
          </a:xfrm>
          <a:prstGeom prst="roundRect">
            <a:avLst>
              <a:gd name="adj" fmla="val 7000"/>
            </a:avLst>
          </a:prstGeom>
          <a:solidFill>
            <a:srgbClr val="15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7240" y="2935224"/>
            <a:ext cx="3154679" cy="411480"/>
          </a:xfrm>
          <a:prstGeom prst="rect">
            <a:avLst/>
          </a:prstGeom>
          <a:noFill/>
        </p:spPr>
        <p:txBody>
          <a:bodyPr wrap="square" lIns="36576" tIns="0" rIns="36576" bIns="0">
            <a:spAutoFit/>
          </a:bodyPr>
          <a:lstStyle/>
          <a:p>
            <a:pPr algn="r" rtl="1">
              <a:spcAft>
                <a:spcPts val="600"/>
              </a:spcAft>
            </a:pPr>
            <a:r>
              <a:rPr lang="ar-JO" sz="2300" b="1">
                <a:solidFill>
                  <a:srgbClr val="66D7C4"/>
                </a:solidFill>
                <a:latin typeface="Tahoma"/>
                <a:ea typeface="Tahoma"/>
                <a:cs typeface="Tahoma"/>
              </a:rPr>
              <a:t>وعدنا الحالي</a:t>
            </a:r>
          </a:p>
        </p:txBody>
      </p:sp>
      <p:sp>
        <p:nvSpPr>
          <p:cNvPr id="14" name="TextBox 13"/>
          <p:cNvSpPr txBox="1"/>
          <p:nvPr/>
        </p:nvSpPr>
        <p:spPr>
          <a:xfrm>
            <a:off x="777240" y="3456432"/>
            <a:ext cx="3154679" cy="2441448"/>
          </a:xfrm>
          <a:prstGeom prst="rect">
            <a:avLst/>
          </a:prstGeom>
          <a:noFill/>
        </p:spPr>
        <p:txBody>
          <a:bodyPr wrap="square" lIns="36576" tIns="0" rIns="36576" bIns="0">
            <a:spAutoFit/>
          </a:bodyPr>
          <a:lstStyle/>
          <a:p>
            <a:pPr algn="r" rtl="1">
              <a:spcAft>
                <a:spcPts val="600"/>
              </a:spcAft>
            </a:pPr>
            <a:r>
              <a:rPr lang="ar-JO" sz="2100" b="0">
                <a:solidFill>
                  <a:srgbClr val="F4F8FA"/>
                </a:solidFill>
                <a:latin typeface="Tahoma"/>
                <a:ea typeface="Tahoma"/>
                <a:cs typeface="Tahoma"/>
              </a:rPr>
              <a:t>MVP إرشادي يعمل بميزات موجودة؛ المحتوى الرسمي مسودة والبريد غير مربوط.</a:t>
            </a:r>
          </a:p>
        </p:txBody>
      </p:sp>
      <p:sp>
        <p:nvSpPr>
          <p:cNvPr id="15" name="Rectangle 14"/>
          <p:cNvSpPr/>
          <p:nvPr/>
        </p:nvSpPr>
        <p:spPr>
          <a:xfrm>
            <a:off x="594360" y="6437376"/>
            <a:ext cx="11000232" cy="10972"/>
          </a:xfrm>
          <a:prstGeom prst="rect">
            <a:avLst/>
          </a:prstGeom>
          <a:solidFill>
            <a:srgbClr val="2941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212080" y="6547104"/>
            <a:ext cx="6355080" cy="210312"/>
          </a:xfrm>
          <a:prstGeom prst="rect">
            <a:avLst/>
          </a:prstGeom>
          <a:noFill/>
        </p:spPr>
        <p:txBody>
          <a:bodyPr wrap="square" lIns="36576" tIns="0" rIns="36576" bIns="0">
            <a:spAutoFit/>
          </a:bodyPr>
          <a:lstStyle/>
          <a:p>
            <a:pPr algn="r" rtl="1">
              <a:spcAft>
                <a:spcPts val="600"/>
              </a:spcAft>
            </a:pPr>
            <a:r>
              <a:rPr lang="ar-JO" sz="1000" b="0">
                <a:solidFill>
                  <a:srgbClr val="B9CCD8"/>
                </a:solidFill>
                <a:latin typeface="Tahoma"/>
                <a:ea typeface="Tahoma"/>
                <a:cs typeface="Tahoma"/>
              </a:rPr>
              <a:t>Mustanad Jo  |  MVP إرشادي · معايير 5–8</a:t>
            </a:r>
          </a:p>
        </p:txBody>
      </p:sp>
      <p:sp>
        <p:nvSpPr>
          <p:cNvPr id="17" name="TextBox 16"/>
          <p:cNvSpPr txBox="1"/>
          <p:nvPr/>
        </p:nvSpPr>
        <p:spPr>
          <a:xfrm>
            <a:off x="594360" y="6547104"/>
            <a:ext cx="1828800" cy="210312"/>
          </a:xfrm>
          <a:prstGeom prst="rect">
            <a:avLst/>
          </a:prstGeom>
          <a:noFill/>
        </p:spPr>
        <p:txBody>
          <a:bodyPr wrap="square" lIns="36576" tIns="0" rIns="36576" bIns="0">
            <a:spAutoFit/>
          </a:bodyPr>
          <a:lstStyle/>
          <a:p>
            <a:pPr algn="r" rtl="1">
              <a:spcAft>
                <a:spcPts val="600"/>
              </a:spcAft>
            </a:pPr>
            <a:r>
              <a:rPr lang="ar-JO" sz="1000" b="0">
                <a:solidFill>
                  <a:srgbClr val="B9CCD8"/>
                </a:solidFill>
                <a:latin typeface="Tahoma"/>
                <a:ea typeface="Tahoma"/>
                <a:cs typeface="Tahoma"/>
              </a:rPr>
              <a:t>الشريحة 17 من 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1800</Words>
  <Application>Microsoft Office PowerPoint</Application>
  <PresentationFormat>Widescreen</PresentationFormat>
  <Paragraphs>177</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Tahoma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Mustanad Jo — العرض النهائي: نقاط القوة وخارطة التطوير</dc:title>
  <dc:subject>Competition criteria 5–8; existing Mustanad Jo MVP</dc:subject>
  <dc:creator>Mustanad Jo</dc:creator>
  <cp:keywords/>
  <dc:description>generated using python-pptx</dc:description>
  <cp:lastModifiedBy>Maher</cp:lastModifiedBy>
  <cp:revision>3</cp:revision>
  <dcterms:created xsi:type="dcterms:W3CDTF">2013-01-27T09:14:16Z</dcterms:created>
  <dcterms:modified xsi:type="dcterms:W3CDTF">2026-10-10T09:50:50Z</dcterms:modified>
  <cp:category/>
</cp:coreProperties>
</file>